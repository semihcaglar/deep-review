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embeddedFontLst>
    <p:embeddedFont>
      <p:font typeface="Assistant" pitchFamily="2" charset="-79"/>
      <p:regular r:id="rId25"/>
      <p:bold r:id="rId26"/>
    </p:embeddedFont>
    <p:embeddedFont>
      <p:font typeface="Lato" panose="020F0502020204030203" pitchFamily="34" charset="0"/>
      <p:regular r:id="rId27"/>
      <p:bold r:id="rId28"/>
      <p:italic r:id="rId29"/>
      <p:boldItalic r:id="rId30"/>
    </p:embeddedFont>
    <p:embeddedFont>
      <p:font typeface="Lato Light" panose="020F0502020204030203" pitchFamily="3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jlZEgbQ5xbQrU/vg+XJiWaES7k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b="1">
                <a:solidFill>
                  <a:srgbClr val="434343"/>
                </a:solidFill>
                <a:latin typeface="Assistant"/>
                <a:ea typeface="Assistant"/>
                <a:cs typeface="Assistant"/>
                <a:sym typeface="Assistant"/>
              </a:rPr>
              <a:t>Computer Science Department </a:t>
            </a:r>
            <a:endParaRPr sz="1200" b="1">
              <a:solidFill>
                <a:srgbClr val="434343"/>
              </a:solidFill>
              <a:latin typeface="Assistant"/>
              <a:ea typeface="Assistant"/>
              <a:cs typeface="Assistant"/>
              <a:sym typeface="Assistant"/>
            </a:endParaRPr>
          </a:p>
          <a:p>
            <a:pPr marL="457200" lvl="0" indent="-323850" algn="l" rtl="0">
              <a:lnSpc>
                <a:spcPct val="115000"/>
              </a:lnSpc>
              <a:spcBef>
                <a:spcPts val="0"/>
              </a:spcBef>
              <a:spcAft>
                <a:spcPts val="0"/>
              </a:spcAft>
              <a:buClr>
                <a:srgbClr val="434343"/>
              </a:buClr>
              <a:buSzPts val="1500"/>
              <a:buFont typeface="Assistant"/>
              <a:buChar char="●"/>
            </a:pPr>
            <a:r>
              <a:rPr lang="en" sz="1500">
                <a:solidFill>
                  <a:srgbClr val="434343"/>
                </a:solidFill>
                <a:latin typeface="Assistant"/>
                <a:ea typeface="Assistant"/>
                <a:cs typeface="Assistant"/>
                <a:sym typeface="Assistant"/>
              </a:rPr>
              <a:t>(45 students) Scholarship students 250 / 3.500.000</a:t>
            </a:r>
            <a:endParaRPr sz="1500">
              <a:solidFill>
                <a:srgbClr val="434343"/>
              </a:solidFill>
              <a:latin typeface="Assistant"/>
              <a:ea typeface="Assistant"/>
              <a:cs typeface="Assistant"/>
              <a:sym typeface="Assistant"/>
            </a:endParaRPr>
          </a:p>
          <a:p>
            <a:pPr marL="457200" lvl="0" indent="-323850" algn="l" rtl="0">
              <a:lnSpc>
                <a:spcPct val="115000"/>
              </a:lnSpc>
              <a:spcBef>
                <a:spcPts val="0"/>
              </a:spcBef>
              <a:spcAft>
                <a:spcPts val="0"/>
              </a:spcAft>
              <a:buClr>
                <a:srgbClr val="434343"/>
              </a:buClr>
              <a:buSzPts val="1500"/>
              <a:buFont typeface="Assistant"/>
              <a:buChar char="●"/>
            </a:pPr>
            <a:r>
              <a:rPr lang="en" sz="1500">
                <a:solidFill>
                  <a:srgbClr val="434343"/>
                </a:solidFill>
                <a:latin typeface="Assistant"/>
                <a:ea typeface="Assistant"/>
                <a:cs typeface="Assistant"/>
                <a:sym typeface="Assistant"/>
              </a:rPr>
              <a:t>(35 students) 50% scholarship students 2500/3.500.000</a:t>
            </a:r>
            <a:endParaRPr sz="1500">
              <a:solidFill>
                <a:srgbClr val="434343"/>
              </a:solidFill>
              <a:latin typeface="Assistant"/>
              <a:ea typeface="Assistant"/>
              <a:cs typeface="Assistant"/>
              <a:sym typeface="Assistant"/>
            </a:endParaRPr>
          </a:p>
          <a:p>
            <a:pPr marL="457200" lvl="0" indent="-323850" algn="l" rtl="0">
              <a:lnSpc>
                <a:spcPct val="115000"/>
              </a:lnSpc>
              <a:spcBef>
                <a:spcPts val="0"/>
              </a:spcBef>
              <a:spcAft>
                <a:spcPts val="0"/>
              </a:spcAft>
              <a:buClr>
                <a:srgbClr val="434343"/>
              </a:buClr>
              <a:buSzPts val="1500"/>
              <a:buFont typeface="Assistant"/>
              <a:buChar char="●"/>
            </a:pPr>
            <a:r>
              <a:rPr lang="en" sz="1500">
                <a:solidFill>
                  <a:srgbClr val="434343"/>
                </a:solidFill>
                <a:latin typeface="Assistant"/>
                <a:ea typeface="Assistant"/>
                <a:cs typeface="Assistant"/>
                <a:sym typeface="Assistant"/>
              </a:rPr>
              <a:t>(80 students) top %0.4 students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c2aa66756c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g3c2aa66756c_0_1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c2aa66756c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3c2aa66756c_0_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c325985b9b_1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3c325985b9b_1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c325985b9b_1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g3c325985b9b_1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c2aa66756c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g3c2aa66756c_0_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c2aa66756c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3c2aa66756c_0_1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c2aa66756c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3c2aa66756c_0_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c325985b9b_1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3c325985b9b_1_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c2aa66756c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g3c2aa66756c_0_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c2aa66756c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3c2aa66756c_0_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c2aa66756c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c2aa66756c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c2aa66756c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g3c2aa66756c_0_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c2aa66756c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g3c2aa66756c_0_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c2aa66756c_0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g3c2aa66756c_0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c2aa66756c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g3c2aa66756c_0_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c2aa66756c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g3c2aa66756c_0_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c2aa66756c_0_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6" name="Google Shape;226;g3c2aa66756c_0_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c2aa66756c_0_1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g3c2aa66756c_0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c325985b9b_1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g3c325985b9b_1_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5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5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5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5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lumns">
  <p:cSld name="TITLE_AND_TWO_COLUMNS_1">
    <p:spTree>
      <p:nvGrpSpPr>
        <p:cNvPr id="1" name="Shape 17"/>
        <p:cNvGrpSpPr/>
        <p:nvPr/>
      </p:nvGrpSpPr>
      <p:grpSpPr>
        <a:xfrm>
          <a:off x="0" y="0"/>
          <a:ext cx="0" cy="0"/>
          <a:chOff x="0" y="0"/>
          <a:chExt cx="0" cy="0"/>
        </a:xfrm>
      </p:grpSpPr>
      <p:sp>
        <p:nvSpPr>
          <p:cNvPr id="18" name="Google Shape;18;p54"/>
          <p:cNvSpPr txBox="1"/>
          <p:nvPr/>
        </p:nvSpPr>
        <p:spPr>
          <a:xfrm>
            <a:off x="311700" y="371175"/>
            <a:ext cx="7699800" cy="646500"/>
          </a:xfrm>
          <a:prstGeom prst="rect">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accent5"/>
              </a:solidFill>
              <a:latin typeface="Lato Light"/>
              <a:ea typeface="Lato Light"/>
              <a:cs typeface="Lato Light"/>
              <a:sym typeface="Lato Light"/>
            </a:endParaRPr>
          </a:p>
        </p:txBody>
      </p:sp>
      <p:sp>
        <p:nvSpPr>
          <p:cNvPr id="19" name="Google Shape;19;p54"/>
          <p:cNvSpPr txBox="1">
            <a:spLocks noGrp="1"/>
          </p:cNvSpPr>
          <p:nvPr>
            <p:ph type="title"/>
          </p:nvPr>
        </p:nvSpPr>
        <p:spPr>
          <a:xfrm>
            <a:off x="311700" y="371175"/>
            <a:ext cx="7699800" cy="6465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529F"/>
              </a:buClr>
              <a:buSzPts val="3200"/>
              <a:buFont typeface="Lato"/>
              <a:buNone/>
              <a:defRPr sz="3200" b="1" i="0" u="none" strike="noStrike" cap="none">
                <a:solidFill>
                  <a:srgbClr val="00529F"/>
                </a:solidFill>
                <a:latin typeface="Lato"/>
                <a:ea typeface="Lato"/>
                <a:cs typeface="Lato"/>
                <a:sym typeface="Lato"/>
              </a:defRPr>
            </a:lvl1pPr>
            <a:lvl2pPr marR="0" lvl="1"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2pPr>
            <a:lvl3pPr marR="0" lvl="2"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3pPr>
            <a:lvl4pPr marR="0" lvl="3"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4pPr>
            <a:lvl5pPr marR="0" lvl="4"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5pPr>
            <a:lvl6pPr marR="0" lvl="5"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6pPr>
            <a:lvl7pPr marR="0" lvl="6"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7pPr>
            <a:lvl8pPr marR="0" lvl="7"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8pPr>
            <a:lvl9pPr marR="0" lvl="8"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9pPr>
          </a:lstStyle>
          <a:p>
            <a:endParaRPr/>
          </a:p>
        </p:txBody>
      </p:sp>
      <p:sp>
        <p:nvSpPr>
          <p:cNvPr id="20" name="Google Shape;20;p54"/>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292100" algn="l">
              <a:lnSpc>
                <a:spcPct val="115000"/>
              </a:lnSpc>
              <a:spcBef>
                <a:spcPts val="1600"/>
              </a:spcBef>
              <a:spcAft>
                <a:spcPts val="0"/>
              </a:spcAft>
              <a:buSzPts val="1000"/>
              <a:buChar char="■"/>
              <a:defRPr sz="1000"/>
            </a:lvl3pPr>
            <a:lvl4pPr marL="1828800" lvl="3" indent="-279400" algn="l">
              <a:lnSpc>
                <a:spcPct val="115000"/>
              </a:lnSpc>
              <a:spcBef>
                <a:spcPts val="1600"/>
              </a:spcBef>
              <a:spcAft>
                <a:spcPts val="0"/>
              </a:spcAft>
              <a:buSzPts val="800"/>
              <a:buChar char="●"/>
              <a:defRPr sz="800"/>
            </a:lvl4pPr>
            <a:lvl5pPr marL="2286000" lvl="4" indent="-279400" algn="l">
              <a:lnSpc>
                <a:spcPct val="115000"/>
              </a:lnSpc>
              <a:spcBef>
                <a:spcPts val="1600"/>
              </a:spcBef>
              <a:spcAft>
                <a:spcPts val="0"/>
              </a:spcAft>
              <a:buSzPts val="800"/>
              <a:buChar char="○"/>
              <a:defRPr sz="800"/>
            </a:lvl5pPr>
            <a:lvl6pPr marL="2743200" lvl="5" indent="-279400" algn="l">
              <a:lnSpc>
                <a:spcPct val="115000"/>
              </a:lnSpc>
              <a:spcBef>
                <a:spcPts val="1600"/>
              </a:spcBef>
              <a:spcAft>
                <a:spcPts val="0"/>
              </a:spcAft>
              <a:buSzPts val="800"/>
              <a:buChar char="■"/>
              <a:defRPr sz="800"/>
            </a:lvl6pPr>
            <a:lvl7pPr marL="3200400" lvl="6" indent="-279400" algn="l">
              <a:lnSpc>
                <a:spcPct val="115000"/>
              </a:lnSpc>
              <a:spcBef>
                <a:spcPts val="1600"/>
              </a:spcBef>
              <a:spcAft>
                <a:spcPts val="0"/>
              </a:spcAft>
              <a:buSzPts val="800"/>
              <a:buChar char="●"/>
              <a:defRPr sz="800"/>
            </a:lvl7pPr>
            <a:lvl8pPr marL="3657600" lvl="7" indent="-279400" algn="l">
              <a:lnSpc>
                <a:spcPct val="115000"/>
              </a:lnSpc>
              <a:spcBef>
                <a:spcPts val="1600"/>
              </a:spcBef>
              <a:spcAft>
                <a:spcPts val="0"/>
              </a:spcAft>
              <a:buSzPts val="800"/>
              <a:buChar char="○"/>
              <a:defRPr sz="800"/>
            </a:lvl8pPr>
            <a:lvl9pPr marL="4114800" lvl="8" indent="-279400" algn="l">
              <a:lnSpc>
                <a:spcPct val="115000"/>
              </a:lnSpc>
              <a:spcBef>
                <a:spcPts val="1600"/>
              </a:spcBef>
              <a:spcAft>
                <a:spcPts val="1600"/>
              </a:spcAft>
              <a:buSzPts val="800"/>
              <a:buChar char="■"/>
              <a:defRPr sz="800"/>
            </a:lvl9pPr>
          </a:lstStyle>
          <a:p>
            <a:endParaRPr/>
          </a:p>
        </p:txBody>
      </p:sp>
      <p:sp>
        <p:nvSpPr>
          <p:cNvPr id="21" name="Google Shape;21;p54"/>
          <p:cNvSpPr txBox="1">
            <a:spLocks noGrp="1"/>
          </p:cNvSpPr>
          <p:nvPr>
            <p:ph type="body" idx="2"/>
          </p:nvPr>
        </p:nvSpPr>
        <p:spPr>
          <a:xfrm>
            <a:off x="0" y="4850400"/>
            <a:ext cx="8520600" cy="293100"/>
          </a:xfrm>
          <a:prstGeom prst="rect">
            <a:avLst/>
          </a:prstGeom>
          <a:noFill/>
          <a:ln>
            <a:noFill/>
          </a:ln>
        </p:spPr>
        <p:txBody>
          <a:bodyPr spcFirstLastPara="1" wrap="square" lIns="91425" tIns="91425" rIns="91425" bIns="91425" anchor="t" anchorCtr="0">
            <a:noAutofit/>
          </a:bodyPr>
          <a:lstStyle>
            <a:lvl1pPr marL="457200" lvl="0" indent="-285750" algn="l">
              <a:lnSpc>
                <a:spcPct val="115000"/>
              </a:lnSpc>
              <a:spcBef>
                <a:spcPts val="0"/>
              </a:spcBef>
              <a:spcAft>
                <a:spcPts val="0"/>
              </a:spcAft>
              <a:buSzPts val="900"/>
              <a:buChar char="●"/>
              <a:defRPr sz="900"/>
            </a:lvl1pPr>
            <a:lvl2pPr marL="914400" lvl="1" indent="-285750" algn="l">
              <a:lnSpc>
                <a:spcPct val="115000"/>
              </a:lnSpc>
              <a:spcBef>
                <a:spcPts val="1600"/>
              </a:spcBef>
              <a:spcAft>
                <a:spcPts val="0"/>
              </a:spcAft>
              <a:buSzPts val="900"/>
              <a:buChar char="○"/>
              <a:defRPr sz="900"/>
            </a:lvl2pPr>
            <a:lvl3pPr marL="1371600" lvl="2" indent="-285750" algn="l">
              <a:lnSpc>
                <a:spcPct val="115000"/>
              </a:lnSpc>
              <a:spcBef>
                <a:spcPts val="1600"/>
              </a:spcBef>
              <a:spcAft>
                <a:spcPts val="0"/>
              </a:spcAft>
              <a:buSzPts val="900"/>
              <a:buChar char="■"/>
              <a:defRPr sz="900"/>
            </a:lvl3pPr>
            <a:lvl4pPr marL="1828800" lvl="3" indent="-285750" algn="l">
              <a:lnSpc>
                <a:spcPct val="115000"/>
              </a:lnSpc>
              <a:spcBef>
                <a:spcPts val="1600"/>
              </a:spcBef>
              <a:spcAft>
                <a:spcPts val="0"/>
              </a:spcAft>
              <a:buSzPts val="900"/>
              <a:buChar char="●"/>
              <a:defRPr sz="900"/>
            </a:lvl4pPr>
            <a:lvl5pPr marL="2286000" lvl="4" indent="-285750" algn="l">
              <a:lnSpc>
                <a:spcPct val="115000"/>
              </a:lnSpc>
              <a:spcBef>
                <a:spcPts val="1600"/>
              </a:spcBef>
              <a:spcAft>
                <a:spcPts val="0"/>
              </a:spcAft>
              <a:buSzPts val="900"/>
              <a:buChar char="○"/>
              <a:defRPr sz="900"/>
            </a:lvl5pPr>
            <a:lvl6pPr marL="2743200" lvl="5" indent="-285750" algn="l">
              <a:lnSpc>
                <a:spcPct val="115000"/>
              </a:lnSpc>
              <a:spcBef>
                <a:spcPts val="1600"/>
              </a:spcBef>
              <a:spcAft>
                <a:spcPts val="0"/>
              </a:spcAft>
              <a:buSzPts val="900"/>
              <a:buChar char="■"/>
              <a:defRPr sz="900"/>
            </a:lvl6pPr>
            <a:lvl7pPr marL="3200400" lvl="6" indent="-285750" algn="l">
              <a:lnSpc>
                <a:spcPct val="115000"/>
              </a:lnSpc>
              <a:spcBef>
                <a:spcPts val="1600"/>
              </a:spcBef>
              <a:spcAft>
                <a:spcPts val="0"/>
              </a:spcAft>
              <a:buSzPts val="900"/>
              <a:buChar char="●"/>
              <a:defRPr sz="900"/>
            </a:lvl7pPr>
            <a:lvl8pPr marL="3657600" lvl="7" indent="-285750" algn="l">
              <a:lnSpc>
                <a:spcPct val="115000"/>
              </a:lnSpc>
              <a:spcBef>
                <a:spcPts val="1600"/>
              </a:spcBef>
              <a:spcAft>
                <a:spcPts val="0"/>
              </a:spcAft>
              <a:buSzPts val="900"/>
              <a:buChar char="○"/>
              <a:defRPr sz="900"/>
            </a:lvl8pPr>
            <a:lvl9pPr marL="4114800" lvl="8" indent="-285750" algn="l">
              <a:lnSpc>
                <a:spcPct val="115000"/>
              </a:lnSpc>
              <a:spcBef>
                <a:spcPts val="1600"/>
              </a:spcBef>
              <a:spcAft>
                <a:spcPts val="1600"/>
              </a:spcAft>
              <a:buSzPts val="900"/>
              <a:buChar char="■"/>
              <a:defRPr sz="900"/>
            </a:lvl9pPr>
          </a:lstStyle>
          <a:p>
            <a:endParaRPr/>
          </a:p>
        </p:txBody>
      </p:sp>
      <p:pic>
        <p:nvPicPr>
          <p:cNvPr id="22" name="Google Shape;22;p54"/>
          <p:cNvPicPr preferRelativeResize="0"/>
          <p:nvPr/>
        </p:nvPicPr>
        <p:blipFill rotWithShape="1">
          <a:blip r:embed="rId2">
            <a:alphaModFix/>
          </a:blip>
          <a:srcRect/>
          <a:stretch/>
        </p:blipFill>
        <p:spPr>
          <a:xfrm>
            <a:off x="8182625" y="299312"/>
            <a:ext cx="790252" cy="790226"/>
          </a:xfrm>
          <a:prstGeom prst="rect">
            <a:avLst/>
          </a:prstGeom>
          <a:noFill/>
          <a:ln>
            <a:noFill/>
          </a:ln>
        </p:spPr>
      </p:pic>
      <p:sp>
        <p:nvSpPr>
          <p:cNvPr id="23" name="Google Shape;23;p54"/>
          <p:cNvSpPr txBox="1">
            <a:spLocks noGrp="1"/>
          </p:cNvSpPr>
          <p:nvPr>
            <p:ph type="body" idx="3"/>
          </p:nvPr>
        </p:nvSpPr>
        <p:spPr>
          <a:xfrm>
            <a:off x="4616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292100" algn="l">
              <a:lnSpc>
                <a:spcPct val="115000"/>
              </a:lnSpc>
              <a:spcBef>
                <a:spcPts val="1600"/>
              </a:spcBef>
              <a:spcAft>
                <a:spcPts val="0"/>
              </a:spcAft>
              <a:buSzPts val="1000"/>
              <a:buChar char="■"/>
              <a:defRPr sz="1000"/>
            </a:lvl3pPr>
            <a:lvl4pPr marL="1828800" lvl="3" indent="-279400" algn="l">
              <a:lnSpc>
                <a:spcPct val="115000"/>
              </a:lnSpc>
              <a:spcBef>
                <a:spcPts val="1600"/>
              </a:spcBef>
              <a:spcAft>
                <a:spcPts val="0"/>
              </a:spcAft>
              <a:buSzPts val="800"/>
              <a:buChar char="●"/>
              <a:defRPr sz="800"/>
            </a:lvl4pPr>
            <a:lvl5pPr marL="2286000" lvl="4" indent="-279400" algn="l">
              <a:lnSpc>
                <a:spcPct val="115000"/>
              </a:lnSpc>
              <a:spcBef>
                <a:spcPts val="1600"/>
              </a:spcBef>
              <a:spcAft>
                <a:spcPts val="0"/>
              </a:spcAft>
              <a:buSzPts val="800"/>
              <a:buChar char="○"/>
              <a:defRPr sz="800"/>
            </a:lvl5pPr>
            <a:lvl6pPr marL="2743200" lvl="5" indent="-279400" algn="l">
              <a:lnSpc>
                <a:spcPct val="115000"/>
              </a:lnSpc>
              <a:spcBef>
                <a:spcPts val="1600"/>
              </a:spcBef>
              <a:spcAft>
                <a:spcPts val="0"/>
              </a:spcAft>
              <a:buSzPts val="800"/>
              <a:buChar char="■"/>
              <a:defRPr sz="800"/>
            </a:lvl6pPr>
            <a:lvl7pPr marL="3200400" lvl="6" indent="-279400" algn="l">
              <a:lnSpc>
                <a:spcPct val="115000"/>
              </a:lnSpc>
              <a:spcBef>
                <a:spcPts val="1600"/>
              </a:spcBef>
              <a:spcAft>
                <a:spcPts val="0"/>
              </a:spcAft>
              <a:buSzPts val="800"/>
              <a:buChar char="●"/>
              <a:defRPr sz="800"/>
            </a:lvl7pPr>
            <a:lvl8pPr marL="3657600" lvl="7" indent="-279400" algn="l">
              <a:lnSpc>
                <a:spcPct val="115000"/>
              </a:lnSpc>
              <a:spcBef>
                <a:spcPts val="1600"/>
              </a:spcBef>
              <a:spcAft>
                <a:spcPts val="0"/>
              </a:spcAft>
              <a:buSzPts val="800"/>
              <a:buChar char="○"/>
              <a:defRPr sz="800"/>
            </a:lvl8pPr>
            <a:lvl9pPr marL="4114800" lvl="8" indent="-279400" algn="l">
              <a:lnSpc>
                <a:spcPct val="115000"/>
              </a:lnSpc>
              <a:spcBef>
                <a:spcPts val="1600"/>
              </a:spcBef>
              <a:spcAft>
                <a:spcPts val="1600"/>
              </a:spcAft>
              <a:buSzPts val="800"/>
              <a:buChar char="■"/>
              <a:defRPr sz="800"/>
            </a:lvl9pPr>
          </a:lstStyle>
          <a:p>
            <a:endParaRPr/>
          </a:p>
        </p:txBody>
      </p:sp>
      <p:sp>
        <p:nvSpPr>
          <p:cNvPr id="24" name="Google Shape;24;p5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5"/>
        <p:cNvGrpSpPr/>
        <p:nvPr/>
      </p:nvGrpSpPr>
      <p:grpSpPr>
        <a:xfrm>
          <a:off x="0" y="0"/>
          <a:ext cx="0" cy="0"/>
          <a:chOff x="0" y="0"/>
          <a:chExt cx="0" cy="0"/>
        </a:xfrm>
      </p:grpSpPr>
      <p:sp>
        <p:nvSpPr>
          <p:cNvPr id="26" name="Google Shape;26;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8"/>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5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5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4" name="Google Shape;34;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7" name="Google Shape;37;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6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0" name="Google Shape;40;p6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1" name="Google Shape;41;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6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4" name="Google Shape;44;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6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6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8" name="Google Shape;48;p6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9" name="Google Shape;49;p6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0" name="Google Shape;50;p6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6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3" name="Google Shape;53;p6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6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6" name="Google Shape;56;p6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7" name="Google Shape;57;p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Empty with Header and Logo">
  <p:cSld name="TITLE_AND_BODY_1_2">
    <p:spTree>
      <p:nvGrpSpPr>
        <p:cNvPr id="1" name="Shape 58"/>
        <p:cNvGrpSpPr/>
        <p:nvPr/>
      </p:nvGrpSpPr>
      <p:grpSpPr>
        <a:xfrm>
          <a:off x="0" y="0"/>
          <a:ext cx="0" cy="0"/>
          <a:chOff x="0" y="0"/>
          <a:chExt cx="0" cy="0"/>
        </a:xfrm>
      </p:grpSpPr>
      <p:sp>
        <p:nvSpPr>
          <p:cNvPr id="59" name="Google Shape;59;p66"/>
          <p:cNvSpPr txBox="1"/>
          <p:nvPr/>
        </p:nvSpPr>
        <p:spPr>
          <a:xfrm>
            <a:off x="311700" y="371175"/>
            <a:ext cx="7699800" cy="646500"/>
          </a:xfrm>
          <a:prstGeom prst="rect">
            <a:avLst/>
          </a:prstGeom>
          <a:no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Arial"/>
              <a:buNone/>
            </a:pPr>
            <a:endParaRPr sz="3600" b="0" i="0" u="none" strike="noStrike" cap="none">
              <a:solidFill>
                <a:schemeClr val="accent5"/>
              </a:solidFill>
              <a:latin typeface="Lato Light"/>
              <a:ea typeface="Lato Light"/>
              <a:cs typeface="Lato Light"/>
              <a:sym typeface="Lato Light"/>
            </a:endParaRPr>
          </a:p>
        </p:txBody>
      </p:sp>
      <p:sp>
        <p:nvSpPr>
          <p:cNvPr id="60" name="Google Shape;60;p66"/>
          <p:cNvSpPr txBox="1">
            <a:spLocks noGrp="1"/>
          </p:cNvSpPr>
          <p:nvPr>
            <p:ph type="title"/>
          </p:nvPr>
        </p:nvSpPr>
        <p:spPr>
          <a:xfrm>
            <a:off x="311700" y="371175"/>
            <a:ext cx="7699800" cy="6465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529F"/>
              </a:buClr>
              <a:buSzPts val="3200"/>
              <a:buFont typeface="Lato"/>
              <a:buNone/>
              <a:defRPr sz="3200" b="1" i="0" u="none" strike="noStrike" cap="none">
                <a:solidFill>
                  <a:srgbClr val="00529F"/>
                </a:solidFill>
                <a:latin typeface="Lato"/>
                <a:ea typeface="Lato"/>
                <a:cs typeface="Lato"/>
                <a:sym typeface="Lato"/>
              </a:defRPr>
            </a:lvl1pPr>
            <a:lvl2pPr marR="0" lvl="1"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2pPr>
            <a:lvl3pPr marR="0" lvl="2"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3pPr>
            <a:lvl4pPr marR="0" lvl="3"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4pPr>
            <a:lvl5pPr marR="0" lvl="4"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5pPr>
            <a:lvl6pPr marR="0" lvl="5"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6pPr>
            <a:lvl7pPr marR="0" lvl="6"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7pPr>
            <a:lvl8pPr marR="0" lvl="7"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8pPr>
            <a:lvl9pPr marR="0" lvl="8" algn="l">
              <a:lnSpc>
                <a:spcPct val="100000"/>
              </a:lnSpc>
              <a:spcBef>
                <a:spcPts val="0"/>
              </a:spcBef>
              <a:spcAft>
                <a:spcPts val="0"/>
              </a:spcAft>
              <a:buClr>
                <a:srgbClr val="00529F"/>
              </a:buClr>
              <a:buSzPts val="2800"/>
              <a:buFont typeface="Arial"/>
              <a:buNone/>
              <a:defRPr sz="2800" b="0" i="0" u="none" strike="noStrike" cap="none">
                <a:solidFill>
                  <a:srgbClr val="00529F"/>
                </a:solidFill>
                <a:latin typeface="Arial"/>
                <a:ea typeface="Arial"/>
                <a:cs typeface="Arial"/>
                <a:sym typeface="Arial"/>
              </a:defRPr>
            </a:lvl9pPr>
          </a:lstStyle>
          <a:p>
            <a:endParaRPr/>
          </a:p>
        </p:txBody>
      </p:sp>
      <p:sp>
        <p:nvSpPr>
          <p:cNvPr id="61" name="Google Shape;61;p66"/>
          <p:cNvSpPr txBox="1">
            <a:spLocks noGrp="1"/>
          </p:cNvSpPr>
          <p:nvPr>
            <p:ph type="body" idx="1"/>
          </p:nvPr>
        </p:nvSpPr>
        <p:spPr>
          <a:xfrm>
            <a:off x="0" y="4850400"/>
            <a:ext cx="8520600" cy="293100"/>
          </a:xfrm>
          <a:prstGeom prst="rect">
            <a:avLst/>
          </a:prstGeom>
          <a:noFill/>
          <a:ln>
            <a:noFill/>
          </a:ln>
        </p:spPr>
        <p:txBody>
          <a:bodyPr spcFirstLastPara="1" wrap="square" lIns="91425" tIns="91425" rIns="91425" bIns="91425" anchor="t" anchorCtr="0">
            <a:noAutofit/>
          </a:bodyPr>
          <a:lstStyle>
            <a:lvl1pPr marL="457200" lvl="0" indent="-285750" algn="l">
              <a:lnSpc>
                <a:spcPct val="115000"/>
              </a:lnSpc>
              <a:spcBef>
                <a:spcPts val="0"/>
              </a:spcBef>
              <a:spcAft>
                <a:spcPts val="0"/>
              </a:spcAft>
              <a:buSzPts val="900"/>
              <a:buChar char="●"/>
              <a:defRPr sz="900"/>
            </a:lvl1pPr>
            <a:lvl2pPr marL="914400" lvl="1" indent="-285750" algn="l">
              <a:lnSpc>
                <a:spcPct val="115000"/>
              </a:lnSpc>
              <a:spcBef>
                <a:spcPts val="1600"/>
              </a:spcBef>
              <a:spcAft>
                <a:spcPts val="0"/>
              </a:spcAft>
              <a:buSzPts val="900"/>
              <a:buChar char="○"/>
              <a:defRPr sz="900"/>
            </a:lvl2pPr>
            <a:lvl3pPr marL="1371600" lvl="2" indent="-285750" algn="l">
              <a:lnSpc>
                <a:spcPct val="115000"/>
              </a:lnSpc>
              <a:spcBef>
                <a:spcPts val="1600"/>
              </a:spcBef>
              <a:spcAft>
                <a:spcPts val="0"/>
              </a:spcAft>
              <a:buSzPts val="900"/>
              <a:buChar char="■"/>
              <a:defRPr sz="900"/>
            </a:lvl3pPr>
            <a:lvl4pPr marL="1828800" lvl="3" indent="-285750" algn="l">
              <a:lnSpc>
                <a:spcPct val="115000"/>
              </a:lnSpc>
              <a:spcBef>
                <a:spcPts val="1600"/>
              </a:spcBef>
              <a:spcAft>
                <a:spcPts val="0"/>
              </a:spcAft>
              <a:buSzPts val="900"/>
              <a:buChar char="●"/>
              <a:defRPr sz="900"/>
            </a:lvl4pPr>
            <a:lvl5pPr marL="2286000" lvl="4" indent="-285750" algn="l">
              <a:lnSpc>
                <a:spcPct val="115000"/>
              </a:lnSpc>
              <a:spcBef>
                <a:spcPts val="1600"/>
              </a:spcBef>
              <a:spcAft>
                <a:spcPts val="0"/>
              </a:spcAft>
              <a:buSzPts val="900"/>
              <a:buChar char="○"/>
              <a:defRPr sz="900"/>
            </a:lvl5pPr>
            <a:lvl6pPr marL="2743200" lvl="5" indent="-285750" algn="l">
              <a:lnSpc>
                <a:spcPct val="115000"/>
              </a:lnSpc>
              <a:spcBef>
                <a:spcPts val="1600"/>
              </a:spcBef>
              <a:spcAft>
                <a:spcPts val="0"/>
              </a:spcAft>
              <a:buSzPts val="900"/>
              <a:buChar char="■"/>
              <a:defRPr sz="900"/>
            </a:lvl6pPr>
            <a:lvl7pPr marL="3200400" lvl="6" indent="-285750" algn="l">
              <a:lnSpc>
                <a:spcPct val="115000"/>
              </a:lnSpc>
              <a:spcBef>
                <a:spcPts val="1600"/>
              </a:spcBef>
              <a:spcAft>
                <a:spcPts val="0"/>
              </a:spcAft>
              <a:buSzPts val="900"/>
              <a:buChar char="●"/>
              <a:defRPr sz="900"/>
            </a:lvl7pPr>
            <a:lvl8pPr marL="3657600" lvl="7" indent="-285750" algn="l">
              <a:lnSpc>
                <a:spcPct val="115000"/>
              </a:lnSpc>
              <a:spcBef>
                <a:spcPts val="1600"/>
              </a:spcBef>
              <a:spcAft>
                <a:spcPts val="0"/>
              </a:spcAft>
              <a:buSzPts val="900"/>
              <a:buChar char="○"/>
              <a:defRPr sz="900"/>
            </a:lvl8pPr>
            <a:lvl9pPr marL="4114800" lvl="8" indent="-285750" algn="l">
              <a:lnSpc>
                <a:spcPct val="115000"/>
              </a:lnSpc>
              <a:spcBef>
                <a:spcPts val="1600"/>
              </a:spcBef>
              <a:spcAft>
                <a:spcPts val="1600"/>
              </a:spcAft>
              <a:buSzPts val="900"/>
              <a:buChar char="■"/>
              <a:defRPr sz="900"/>
            </a:lvl9pPr>
          </a:lstStyle>
          <a:p>
            <a:endParaRPr/>
          </a:p>
        </p:txBody>
      </p:sp>
      <p:pic>
        <p:nvPicPr>
          <p:cNvPr id="62" name="Google Shape;62;p66"/>
          <p:cNvPicPr preferRelativeResize="0"/>
          <p:nvPr/>
        </p:nvPicPr>
        <p:blipFill rotWithShape="1">
          <a:blip r:embed="rId2">
            <a:alphaModFix/>
          </a:blip>
          <a:srcRect/>
          <a:stretch/>
        </p:blipFill>
        <p:spPr>
          <a:xfrm>
            <a:off x="8182625" y="299312"/>
            <a:ext cx="790252" cy="790226"/>
          </a:xfrm>
          <a:prstGeom prst="rect">
            <a:avLst/>
          </a:prstGeom>
          <a:noFill/>
          <a:ln>
            <a:noFill/>
          </a:ln>
        </p:spPr>
      </p:pic>
      <p:sp>
        <p:nvSpPr>
          <p:cNvPr id="63" name="Google Shape;63;p66"/>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rmAutofit/>
          </a:bodyPr>
          <a:lstStyle>
            <a:lvl1pPr marL="0" marR="0" lvl="0"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1300"/>
              <a:buFont typeface="Arial"/>
              <a:buNone/>
              <a:defRPr sz="13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5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5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5200"/>
              <a:buNone/>
            </a:pPr>
            <a:r>
              <a:rPr lang="en" sz="4900">
                <a:solidFill>
                  <a:srgbClr val="00529F"/>
                </a:solidFill>
              </a:rPr>
              <a:t>CS-319 Project Presentation</a:t>
            </a:r>
            <a:r>
              <a:rPr lang="en">
                <a:solidFill>
                  <a:srgbClr val="00529F"/>
                </a:solidFill>
              </a:rPr>
              <a:t> </a:t>
            </a:r>
            <a:endParaRPr sz="2977">
              <a:solidFill>
                <a:srgbClr val="00529F"/>
              </a:solidFill>
            </a:endParaRPr>
          </a:p>
        </p:txBody>
      </p:sp>
      <p:sp>
        <p:nvSpPr>
          <p:cNvPr id="69" name="Google Shape;69;p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2800"/>
              <a:buFont typeface="Arial"/>
              <a:buNone/>
            </a:pPr>
            <a:r>
              <a:rPr lang="en" sz="1500">
                <a:solidFill>
                  <a:schemeClr val="dk1"/>
                </a:solidFill>
              </a:rPr>
              <a:t>Presenter</a:t>
            </a:r>
            <a:r>
              <a:rPr lang="en" sz="1500">
                <a:solidFill>
                  <a:srgbClr val="00529F"/>
                </a:solidFill>
              </a:rPr>
              <a:t>: Fereshteh Vedadi</a:t>
            </a:r>
            <a:endParaRPr sz="1500">
              <a:solidFill>
                <a:srgbClr val="111111"/>
              </a:solidFill>
            </a:endParaRPr>
          </a:p>
          <a:p>
            <a:pPr marL="0" lvl="0" indent="0" algn="l" rtl="0">
              <a:lnSpc>
                <a:spcPct val="100000"/>
              </a:lnSpc>
              <a:spcBef>
                <a:spcPts val="0"/>
              </a:spcBef>
              <a:spcAft>
                <a:spcPts val="0"/>
              </a:spcAft>
              <a:buSzPts val="2800"/>
              <a:buNone/>
            </a:pPr>
            <a:r>
              <a:rPr lang="en" sz="1500">
                <a:solidFill>
                  <a:srgbClr val="111111"/>
                </a:solidFill>
              </a:rPr>
              <a:t>Lab Coordinator: </a:t>
            </a:r>
            <a:r>
              <a:rPr lang="en" sz="1500">
                <a:solidFill>
                  <a:srgbClr val="00529F"/>
                </a:solidFill>
              </a:rPr>
              <a:t>Eray Tüzün</a:t>
            </a:r>
            <a:endParaRPr sz="1500">
              <a:solidFill>
                <a:srgbClr val="00529F"/>
              </a:solidFill>
            </a:endParaRPr>
          </a:p>
          <a:p>
            <a:pPr marL="0" lvl="0" indent="0" algn="l" rtl="0">
              <a:lnSpc>
                <a:spcPct val="100000"/>
              </a:lnSpc>
              <a:spcBef>
                <a:spcPts val="0"/>
              </a:spcBef>
              <a:spcAft>
                <a:spcPts val="0"/>
              </a:spcAft>
              <a:buSzPts val="2800"/>
              <a:buNone/>
            </a:pPr>
            <a:endParaRPr sz="1500">
              <a:solidFill>
                <a:srgbClr val="00529F"/>
              </a:solidFill>
            </a:endParaRPr>
          </a:p>
          <a:p>
            <a:pPr marL="0" lvl="0" indent="0" algn="l" rtl="0">
              <a:lnSpc>
                <a:spcPct val="100000"/>
              </a:lnSpc>
              <a:spcBef>
                <a:spcPts val="0"/>
              </a:spcBef>
              <a:spcAft>
                <a:spcPts val="0"/>
              </a:spcAft>
              <a:buSzPts val="2800"/>
              <a:buNone/>
            </a:pPr>
            <a:endParaRPr sz="1500">
              <a:solidFill>
                <a:srgbClr val="00529F"/>
              </a:solidFill>
            </a:endParaRPr>
          </a:p>
        </p:txBody>
      </p:sp>
      <p:pic>
        <p:nvPicPr>
          <p:cNvPr id="70" name="Google Shape;70;p1"/>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71" name="Google Shape;71;p1"/>
          <p:cNvSpPr txBox="1">
            <a:spLocks noGrp="1"/>
          </p:cNvSpPr>
          <p:nvPr>
            <p:ph type="subTitle" idx="1"/>
          </p:nvPr>
        </p:nvSpPr>
        <p:spPr>
          <a:xfrm>
            <a:off x="311700" y="3484975"/>
            <a:ext cx="4130100" cy="461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380"/>
              <a:buNone/>
            </a:pPr>
            <a:r>
              <a:rPr lang="en" sz="1545">
                <a:solidFill>
                  <a:srgbClr val="111111"/>
                </a:solidFill>
              </a:rPr>
              <a:t>Project: </a:t>
            </a:r>
            <a:r>
              <a:rPr lang="en" sz="1545">
                <a:solidFill>
                  <a:srgbClr val="00529F"/>
                </a:solidFill>
              </a:rPr>
              <a:t>BILSEN Review Process Automation</a:t>
            </a:r>
            <a:endParaRPr sz="1545">
              <a:solidFill>
                <a:srgbClr val="111111"/>
              </a:solidFill>
            </a:endParaRPr>
          </a:p>
        </p:txBody>
      </p:sp>
      <p:sp>
        <p:nvSpPr>
          <p:cNvPr id="72" name="Google Shape;72;p1"/>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3"/>
          <p:cNvSpPr txBox="1">
            <a:spLocks noGrp="1"/>
          </p:cNvSpPr>
          <p:nvPr>
            <p:ph type="title"/>
          </p:nvPr>
        </p:nvSpPr>
        <p:spPr>
          <a:xfrm>
            <a:off x="311700" y="371175"/>
            <a:ext cx="7699800" cy="646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BILSEN Group</a:t>
            </a: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3200"/>
              <a:buNone/>
            </a:pPr>
            <a:endParaRPr/>
          </a:p>
        </p:txBody>
      </p:sp>
      <p:sp>
        <p:nvSpPr>
          <p:cNvPr id="78" name="Google Shape;78;p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endParaRPr/>
          </a:p>
        </p:txBody>
      </p:sp>
      <p:pic>
        <p:nvPicPr>
          <p:cNvPr id="79" name="Google Shape;79;p3"/>
          <p:cNvPicPr preferRelativeResize="0"/>
          <p:nvPr/>
        </p:nvPicPr>
        <p:blipFill rotWithShape="1">
          <a:blip r:embed="rId3">
            <a:alphaModFix/>
          </a:blip>
          <a:srcRect/>
          <a:stretch/>
        </p:blipFill>
        <p:spPr>
          <a:xfrm>
            <a:off x="0" y="1017675"/>
            <a:ext cx="4860756" cy="3645549"/>
          </a:xfrm>
          <a:prstGeom prst="rect">
            <a:avLst/>
          </a:prstGeom>
          <a:noFill/>
          <a:ln>
            <a:noFill/>
          </a:ln>
        </p:spPr>
      </p:pic>
      <p:sp>
        <p:nvSpPr>
          <p:cNvPr id="80" name="Google Shape;80;p3"/>
          <p:cNvSpPr txBox="1"/>
          <p:nvPr/>
        </p:nvSpPr>
        <p:spPr>
          <a:xfrm>
            <a:off x="4903850" y="1152475"/>
            <a:ext cx="4070700" cy="3702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800" b="1">
                <a:solidFill>
                  <a:schemeClr val="dk1"/>
                </a:solidFill>
              </a:rPr>
              <a:t>Vision</a:t>
            </a:r>
            <a:br>
              <a:rPr lang="en" sz="1800" b="1">
                <a:solidFill>
                  <a:schemeClr val="dk1"/>
                </a:solidFill>
              </a:rPr>
            </a:br>
            <a:r>
              <a:rPr lang="en" sz="1800">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Enhance the </a:t>
            </a:r>
            <a:r>
              <a:rPr lang="en" sz="1800" b="1">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productivity of software engineering</a:t>
            </a:r>
            <a:r>
              <a:rPr lang="en" sz="1800">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 teams through </a:t>
            </a:r>
            <a:r>
              <a:rPr lang="en" sz="1800" b="1">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3"/>
                  </a:ext>
                </a:extLst>
              </a:rPr>
              <a:t>data-driven and data science</a:t>
            </a:r>
            <a:r>
              <a:rPr lang="en" sz="1800">
                <a:solidFill>
                  <a:schemeClr val="dk1"/>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–based techniques.</a:t>
            </a:r>
            <a:endParaRPr sz="18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800" b="1">
                <a:solidFill>
                  <a:schemeClr val="dk1"/>
                </a:solidFill>
              </a:rPr>
              <a:t>Group Composition</a:t>
            </a:r>
            <a:br>
              <a:rPr lang="en" sz="1800" b="1">
                <a:solidFill>
                  <a:schemeClr val="dk1"/>
                </a:solidFill>
              </a:rPr>
            </a:br>
            <a:r>
              <a:rPr lang="en" sz="1800">
                <a:solidFill>
                  <a:schemeClr val="dk1"/>
                </a:solidFill>
              </a:rPr>
              <a:t> • Graduate students: 9</a:t>
            </a:r>
            <a:br>
              <a:rPr lang="en" sz="1800">
                <a:solidFill>
                  <a:schemeClr val="dk1"/>
                </a:solidFill>
              </a:rPr>
            </a:br>
            <a:r>
              <a:rPr lang="en" sz="1800">
                <a:solidFill>
                  <a:schemeClr val="dk1"/>
                </a:solidFill>
              </a:rPr>
              <a:t> • Undergraduate students: 18</a:t>
            </a:r>
            <a:endParaRPr sz="1800">
              <a:solidFill>
                <a:schemeClr val="dk1"/>
              </a:solidFill>
            </a:endParaRPr>
          </a:p>
          <a:p>
            <a:pPr marL="0" marR="0" lvl="0" indent="0" algn="l" rtl="0">
              <a:lnSpc>
                <a:spcPct val="115000"/>
              </a:lnSpc>
              <a:spcBef>
                <a:spcPts val="1200"/>
              </a:spcBef>
              <a:spcAft>
                <a:spcPts val="0"/>
              </a:spcAft>
              <a:buClr>
                <a:srgbClr val="000000"/>
              </a:buClr>
              <a:buSzPts val="2000"/>
              <a:buFont typeface="Arial"/>
              <a:buNone/>
            </a:pPr>
            <a:endParaRPr sz="2000" b="1">
              <a:latin typeface="Assistant"/>
              <a:ea typeface="Assistant"/>
              <a:cs typeface="Assistant"/>
              <a:sym typeface="Assistant"/>
            </a:endParaRPr>
          </a:p>
          <a:p>
            <a:pPr marL="457200" marR="0" lvl="0" indent="0" algn="l" rtl="0">
              <a:lnSpc>
                <a:spcPct val="115000"/>
              </a:lnSpc>
              <a:spcBef>
                <a:spcPts val="0"/>
              </a:spcBef>
              <a:spcAft>
                <a:spcPts val="0"/>
              </a:spcAft>
              <a:buClr>
                <a:srgbClr val="000000"/>
              </a:buClr>
              <a:buSzPts val="1200"/>
              <a:buFont typeface="Arial"/>
              <a:buNone/>
            </a:pPr>
            <a:endParaRPr sz="1200" b="1" i="0" u="none" strike="noStrike" cap="none">
              <a:solidFill>
                <a:schemeClr val="dk1"/>
              </a:solidFill>
              <a:latin typeface="Assistant"/>
              <a:ea typeface="Assistant"/>
              <a:cs typeface="Assistant"/>
              <a:sym typeface="Assistant"/>
            </a:endParaRPr>
          </a:p>
          <a:p>
            <a:pPr marL="0" marR="0" lvl="0" indent="0" algn="l" rtl="0">
              <a:lnSpc>
                <a:spcPct val="115000"/>
              </a:lnSpc>
              <a:spcBef>
                <a:spcPts val="0"/>
              </a:spcBef>
              <a:spcAft>
                <a:spcPts val="0"/>
              </a:spcAft>
              <a:buClr>
                <a:srgbClr val="000000"/>
              </a:buClr>
              <a:buSzPts val="1500"/>
              <a:buFont typeface="Arial"/>
              <a:buNone/>
            </a:pPr>
            <a:endParaRPr sz="1500" b="0" i="0" u="none" strike="noStrike" cap="none">
              <a:solidFill>
                <a:schemeClr val="dk1"/>
              </a:solidFill>
              <a:latin typeface="Assistant"/>
              <a:ea typeface="Assistant"/>
              <a:cs typeface="Assistant"/>
              <a:sym typeface="Assistant"/>
            </a:endParaRPr>
          </a:p>
          <a:p>
            <a:pPr marL="457200" marR="0" lvl="0" indent="0" algn="l" rtl="0">
              <a:lnSpc>
                <a:spcPct val="115000"/>
              </a:lnSpc>
              <a:spcBef>
                <a:spcPts val="0"/>
              </a:spcBef>
              <a:spcAft>
                <a:spcPts val="0"/>
              </a:spcAft>
              <a:buClr>
                <a:srgbClr val="000000"/>
              </a:buClr>
              <a:buSzPts val="1500"/>
              <a:buFont typeface="Arial"/>
              <a:buNone/>
            </a:pPr>
            <a:endParaRPr sz="1500" b="0" i="0" u="none" strike="noStrike" cap="none">
              <a:solidFill>
                <a:schemeClr val="dk1"/>
              </a:solidFill>
              <a:latin typeface="Assistant"/>
              <a:ea typeface="Assistant"/>
              <a:cs typeface="Assistant"/>
              <a:sym typeface="Assistant"/>
            </a:endParaRPr>
          </a:p>
          <a:p>
            <a:pPr marL="914400" marR="0" lvl="0" indent="0" algn="l" rtl="0">
              <a:lnSpc>
                <a:spcPct val="115000"/>
              </a:lnSpc>
              <a:spcBef>
                <a:spcPts val="0"/>
              </a:spcBef>
              <a:spcAft>
                <a:spcPts val="0"/>
              </a:spcAft>
              <a:buClr>
                <a:srgbClr val="000000"/>
              </a:buClr>
              <a:buSzPts val="1500"/>
              <a:buFont typeface="Arial"/>
              <a:buNone/>
            </a:pPr>
            <a:endParaRPr sz="1500" b="0" i="0" u="none" strike="noStrike" cap="none">
              <a:solidFill>
                <a:schemeClr val="dk1"/>
              </a:solidFill>
              <a:latin typeface="Assistant"/>
              <a:ea typeface="Assistant"/>
              <a:cs typeface="Assistant"/>
              <a:sym typeface="Assistant"/>
            </a:endParaRPr>
          </a:p>
        </p:txBody>
      </p:sp>
      <p:sp>
        <p:nvSpPr>
          <p:cNvPr id="81" name="Google Shape;81;p3"/>
          <p:cNvSpPr txBox="1">
            <a:spLocks noGrp="1"/>
          </p:cNvSpPr>
          <p:nvPr>
            <p:ph type="body" idx="2"/>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400"/>
              </a:spcBef>
              <a:spcAft>
                <a:spcPts val="0"/>
              </a:spcAft>
              <a:buClr>
                <a:schemeClr val="dk1"/>
              </a:buClr>
              <a:buSzPct val="52520"/>
              <a:buFont typeface="Arial"/>
              <a:buNone/>
            </a:pPr>
            <a:r>
              <a:rPr lang="en" sz="2094" b="1">
                <a:solidFill>
                  <a:srgbClr val="00529F"/>
                </a:solidFill>
              </a:rPr>
              <a:t>Automating the BILSEN Internal Review Process</a:t>
            </a:r>
            <a:endParaRPr sz="2094" b="1">
              <a:solidFill>
                <a:srgbClr val="00529F"/>
              </a:solidFill>
            </a:endParaRPr>
          </a:p>
          <a:p>
            <a:pPr marL="0" lvl="0" indent="0" algn="l" rtl="0">
              <a:lnSpc>
                <a:spcPct val="115000"/>
              </a:lnSpc>
              <a:spcBef>
                <a:spcPts val="1200"/>
              </a:spcBef>
              <a:spcAft>
                <a:spcPts val="0"/>
              </a:spcAft>
              <a:buSzPct val="66666"/>
              <a:buNone/>
            </a:pPr>
            <a:endParaRPr sz="1650" b="1"/>
          </a:p>
          <a:p>
            <a:pPr marL="0" lvl="0" indent="0" algn="l" rtl="0">
              <a:lnSpc>
                <a:spcPct val="115000"/>
              </a:lnSpc>
              <a:spcBef>
                <a:spcPts val="1200"/>
              </a:spcBef>
              <a:spcAft>
                <a:spcPts val="0"/>
              </a:spcAft>
              <a:buClr>
                <a:schemeClr val="dk1"/>
              </a:buClr>
              <a:buSzPct val="66666"/>
              <a:buFont typeface="Arial"/>
              <a:buNone/>
            </a:pPr>
            <a:r>
              <a:rPr lang="en" sz="1650" b="1"/>
              <a:t>Context</a:t>
            </a:r>
            <a:endParaRPr sz="1650" b="1"/>
          </a:p>
          <a:p>
            <a:pPr marL="457200" lvl="0" indent="-322897" algn="l" rtl="0">
              <a:lnSpc>
                <a:spcPct val="115000"/>
              </a:lnSpc>
              <a:spcBef>
                <a:spcPts val="1200"/>
              </a:spcBef>
              <a:spcAft>
                <a:spcPts val="0"/>
              </a:spcAft>
              <a:buSzPct val="100000"/>
              <a:buChar char="●"/>
            </a:pPr>
            <a:r>
              <a:rPr lang="en" sz="1650"/>
              <a:t>BILSEN conducts internal paper reviews before conference/journal submission.</a:t>
            </a:r>
            <a:endParaRPr sz="1650"/>
          </a:p>
          <a:p>
            <a:pPr marL="457200" lvl="0" indent="-322897" algn="l" rtl="0">
              <a:lnSpc>
                <a:spcPct val="115000"/>
              </a:lnSpc>
              <a:spcBef>
                <a:spcPts val="0"/>
              </a:spcBef>
              <a:spcAft>
                <a:spcPts val="0"/>
              </a:spcAft>
              <a:buSzPct val="100000"/>
              <a:buChar char="●"/>
            </a:pPr>
            <a:r>
              <a:rPr lang="en" sz="1650"/>
              <a:t>Reviews are essential for maintaining research quality and consistency.</a:t>
            </a:r>
            <a:br>
              <a:rPr lang="en" sz="1650"/>
            </a:br>
            <a:endParaRPr sz="1650"/>
          </a:p>
          <a:p>
            <a:pPr marL="0" lvl="0" indent="0" algn="l" rtl="0">
              <a:lnSpc>
                <a:spcPct val="115000"/>
              </a:lnSpc>
              <a:spcBef>
                <a:spcPts val="1200"/>
              </a:spcBef>
              <a:spcAft>
                <a:spcPts val="0"/>
              </a:spcAft>
              <a:buClr>
                <a:schemeClr val="dk1"/>
              </a:buClr>
              <a:buSzPct val="66666"/>
              <a:buFont typeface="Arial"/>
              <a:buNone/>
            </a:pPr>
            <a:r>
              <a:rPr lang="en" sz="1650" b="1"/>
              <a:t>Goal</a:t>
            </a:r>
            <a:endParaRPr sz="1650" b="1"/>
          </a:p>
          <a:p>
            <a:pPr marL="457200" lvl="0" indent="-322897" algn="l" rtl="0">
              <a:lnSpc>
                <a:spcPct val="115000"/>
              </a:lnSpc>
              <a:spcBef>
                <a:spcPts val="1200"/>
              </a:spcBef>
              <a:spcAft>
                <a:spcPts val="0"/>
              </a:spcAft>
              <a:buSzPct val="100000"/>
              <a:buChar char="●"/>
            </a:pPr>
            <a:r>
              <a:rPr lang="en" sz="1650"/>
              <a:t>Transform the current </a:t>
            </a:r>
            <a:r>
              <a:rPr lang="en" sz="1650" b="1"/>
              <a:t>manual, and coordination-heavy review process</a:t>
            </a:r>
            <a:r>
              <a:rPr lang="en" sz="1650"/>
              <a:t> into a </a:t>
            </a:r>
            <a:r>
              <a:rPr lang="en" sz="1650" b="1"/>
              <a:t>structured, partially automated, and data-driven system.</a:t>
            </a:r>
            <a:endParaRPr sz="1650" b="1"/>
          </a:p>
          <a:p>
            <a:pPr marL="457200" lvl="0" indent="-322897" algn="l" rtl="0">
              <a:lnSpc>
                <a:spcPct val="115000"/>
              </a:lnSpc>
              <a:spcBef>
                <a:spcPts val="0"/>
              </a:spcBef>
              <a:spcAft>
                <a:spcPts val="0"/>
              </a:spcAft>
              <a:buSzPct val="100000"/>
              <a:buChar char="●"/>
            </a:pPr>
            <a:r>
              <a:rPr lang="en" sz="1650">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Improve efficiency, traceability, and scalability.</a:t>
            </a:r>
            <a:endParaRPr sz="1650" b="1"/>
          </a:p>
          <a:p>
            <a:pPr marL="0" lvl="0" indent="0" algn="l" rtl="0">
              <a:lnSpc>
                <a:spcPct val="100000"/>
              </a:lnSpc>
              <a:spcBef>
                <a:spcPts val="1200"/>
              </a:spcBef>
              <a:spcAft>
                <a:spcPts val="0"/>
              </a:spcAft>
              <a:buSzPct val="111111"/>
              <a:buNone/>
            </a:pPr>
            <a:endParaRPr/>
          </a:p>
        </p:txBody>
      </p:sp>
      <p:pic>
        <p:nvPicPr>
          <p:cNvPr id="87" name="Google Shape;87;p4"/>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88" name="Google Shape;88;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3</a:t>
            </a:fld>
            <a:endParaRPr/>
          </a:p>
        </p:txBody>
      </p:sp>
      <p:sp>
        <p:nvSpPr>
          <p:cNvPr id="89" name="Google Shape;89;p4"/>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g3c2aa66756c_0_126"/>
          <p:cNvSpPr txBox="1">
            <a:spLocks noGrp="1"/>
          </p:cNvSpPr>
          <p:nvPr>
            <p:ph type="title"/>
          </p:nvPr>
        </p:nvSpPr>
        <p:spPr>
          <a:xfrm>
            <a:off x="311700" y="320700"/>
            <a:ext cx="8520600" cy="4502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400"/>
              </a:spcBef>
              <a:spcAft>
                <a:spcPts val="0"/>
              </a:spcAft>
              <a:buSzPct val="52520"/>
              <a:buNone/>
            </a:pPr>
            <a:r>
              <a:rPr lang="en" sz="2094" b="1" dirty="0">
                <a:solidFill>
                  <a:srgbClr val="00529F"/>
                </a:solidFill>
              </a:rPr>
              <a:t>Current Process (As-Is): Step-by-Step Flow</a:t>
            </a:r>
            <a:endParaRPr sz="1300" b="1" dirty="0"/>
          </a:p>
          <a:p>
            <a:pPr marL="457200" lvl="0" indent="-317182" algn="l" rtl="0">
              <a:lnSpc>
                <a:spcPct val="115000"/>
              </a:lnSpc>
              <a:spcBef>
                <a:spcPts val="1200"/>
              </a:spcBef>
              <a:spcAft>
                <a:spcPts val="0"/>
              </a:spcAft>
              <a:buSzPct val="100000"/>
              <a:buAutoNum type="arabicPeriod"/>
            </a:pPr>
            <a:r>
              <a:rPr lang="en" sz="1550" b="1" dirty="0"/>
              <a:t>Paper Submission</a:t>
            </a:r>
            <a:br>
              <a:rPr lang="en" sz="1550" b="1" dirty="0"/>
            </a:br>
            <a:endParaRPr sz="1550" b="1" dirty="0"/>
          </a:p>
          <a:p>
            <a:pPr marL="914400" lvl="1" indent="-317182" algn="l" rtl="0">
              <a:lnSpc>
                <a:spcPct val="115000"/>
              </a:lnSpc>
              <a:spcBef>
                <a:spcPts val="0"/>
              </a:spcBef>
              <a:spcAft>
                <a:spcPts val="0"/>
              </a:spcAft>
              <a:buSzPct val="100000"/>
              <a:buChar char="○"/>
            </a:pPr>
            <a:r>
              <a:rPr lang="en" sz="1550" dirty="0"/>
              <a:t>Authors notify the lab coordinator upon completing the final version of their manuscript.</a:t>
            </a:r>
            <a:br>
              <a:rPr lang="en" sz="1550" dirty="0"/>
            </a:br>
            <a:endParaRPr sz="1550" dirty="0"/>
          </a:p>
          <a:p>
            <a:pPr marL="457200" lvl="0" indent="-317182" algn="l" rtl="0">
              <a:lnSpc>
                <a:spcPct val="115000"/>
              </a:lnSpc>
              <a:spcBef>
                <a:spcPts val="0"/>
              </a:spcBef>
              <a:spcAft>
                <a:spcPts val="0"/>
              </a:spcAft>
              <a:buSzPct val="100000"/>
              <a:buAutoNum type="arabicPeriod"/>
            </a:pPr>
            <a:r>
              <a:rPr lang="en" sz="1550" b="1" dirty="0"/>
              <a:t>Reviewer Assignment</a:t>
            </a:r>
            <a:br>
              <a:rPr lang="en" sz="1550" b="1" dirty="0"/>
            </a:br>
            <a:endParaRPr sz="1550" b="1" dirty="0"/>
          </a:p>
          <a:p>
            <a:pPr marL="914400" lvl="1" indent="-317182" algn="l" rtl="0">
              <a:lnSpc>
                <a:spcPct val="115000"/>
              </a:lnSpc>
              <a:spcBef>
                <a:spcPts val="0"/>
              </a:spcBef>
              <a:spcAft>
                <a:spcPts val="0"/>
              </a:spcAft>
              <a:buSzPct val="100000"/>
              <a:buChar char="○"/>
            </a:pPr>
            <a:r>
              <a:rPr lang="en" sz="1550" dirty="0"/>
              <a:t>Coordinator manually assigns reviewers, sets the review deadline, shares the project Overleaf link with the assigned reviewers and notifies them by email.</a:t>
            </a:r>
            <a:endParaRPr sz="1550" dirty="0"/>
          </a:p>
          <a:p>
            <a:pPr marL="914400" lvl="1" indent="-317182" algn="l" rtl="0">
              <a:lnSpc>
                <a:spcPct val="115000"/>
              </a:lnSpc>
              <a:spcBef>
                <a:spcPts val="1200"/>
              </a:spcBef>
              <a:spcAft>
                <a:spcPts val="0"/>
              </a:spcAft>
              <a:buSzPct val="100000"/>
              <a:buChar char="○"/>
            </a:pPr>
            <a:r>
              <a:rPr lang="en" sz="1550" dirty="0"/>
              <a:t>The lab coordinator sometimes needs to remind reviewers of their tasks, as missed deadlines or late extension requests can prevent timely reassignment and lead to missed reviews.</a:t>
            </a:r>
            <a:endParaRPr sz="1550" dirty="0"/>
          </a:p>
          <a:p>
            <a:pPr marL="457200" lvl="0" indent="-317182" algn="l" rtl="0">
              <a:lnSpc>
                <a:spcPct val="115000"/>
              </a:lnSpc>
              <a:spcBef>
                <a:spcPts val="1200"/>
              </a:spcBef>
              <a:spcAft>
                <a:spcPts val="0"/>
              </a:spcAft>
              <a:buSzPct val="100000"/>
              <a:buAutoNum type="arabicPeriod"/>
            </a:pPr>
            <a:r>
              <a:rPr lang="en" sz="1550" b="1" dirty="0"/>
              <a:t>Review Execution</a:t>
            </a:r>
            <a:endParaRPr sz="1550" b="1" dirty="0"/>
          </a:p>
          <a:p>
            <a:pPr marL="914400" lvl="1" indent="-317182" algn="l" rtl="0">
              <a:lnSpc>
                <a:spcPct val="115000"/>
              </a:lnSpc>
              <a:spcBef>
                <a:spcPts val="0"/>
              </a:spcBef>
              <a:spcAft>
                <a:spcPts val="0"/>
              </a:spcAft>
              <a:buSzPct val="100000"/>
              <a:buChar char="○"/>
            </a:pPr>
            <a:r>
              <a:rPr lang="en" sz="1550" dirty="0"/>
              <a:t>Reviewers:</a:t>
            </a:r>
            <a:endParaRPr sz="1550" dirty="0"/>
          </a:p>
          <a:p>
            <a:pPr marL="1371600" lvl="2" indent="-317182" algn="l" rtl="0">
              <a:lnSpc>
                <a:spcPct val="115000"/>
              </a:lnSpc>
              <a:spcBef>
                <a:spcPts val="0"/>
              </a:spcBef>
              <a:spcAft>
                <a:spcPts val="0"/>
              </a:spcAft>
              <a:buSzPct val="100000"/>
              <a:buChar char="■"/>
            </a:pPr>
            <a:r>
              <a:rPr lang="en" sz="1550" dirty="0"/>
              <a:t>Join the Overleaf and read the manuscript</a:t>
            </a:r>
            <a:endParaRPr sz="1550" dirty="0"/>
          </a:p>
          <a:p>
            <a:pPr marL="1371600" lvl="2" indent="-317182" algn="l" rtl="0">
              <a:lnSpc>
                <a:spcPct val="115000"/>
              </a:lnSpc>
              <a:spcBef>
                <a:spcPts val="0"/>
              </a:spcBef>
              <a:spcAft>
                <a:spcPts val="0"/>
              </a:spcAft>
              <a:buSzPct val="100000"/>
              <a:buChar char="■"/>
            </a:pPr>
            <a:r>
              <a:rPr lang="en" sz="1550" dirty="0"/>
              <a:t>Leave free-form comments on Overleaf</a:t>
            </a:r>
            <a:br>
              <a:rPr lang="en" sz="1100" dirty="0"/>
            </a:br>
            <a:endParaRPr sz="1100" dirty="0"/>
          </a:p>
          <a:p>
            <a:pPr marL="0" lvl="0" indent="0" algn="l" rtl="0">
              <a:lnSpc>
                <a:spcPct val="100000"/>
              </a:lnSpc>
              <a:spcBef>
                <a:spcPts val="1200"/>
              </a:spcBef>
              <a:spcAft>
                <a:spcPts val="0"/>
              </a:spcAft>
              <a:buSzPct val="111111"/>
              <a:buNone/>
            </a:pPr>
            <a:endParaRPr dirty="0"/>
          </a:p>
        </p:txBody>
      </p:sp>
      <p:pic>
        <p:nvPicPr>
          <p:cNvPr id="95" name="Google Shape;95;g3c2aa66756c_0_126"/>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96" name="Google Shape;96;g3c2aa66756c_0_1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4</a:t>
            </a:fld>
            <a:endParaRPr/>
          </a:p>
        </p:txBody>
      </p:sp>
      <p:sp>
        <p:nvSpPr>
          <p:cNvPr id="97" name="Google Shape;97;g3c2aa66756c_0_126"/>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g3c2aa66756c_0_134"/>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103" name="Google Shape;103;g3c2aa66756c_0_134"/>
          <p:cNvSpPr txBox="1"/>
          <p:nvPr/>
        </p:nvSpPr>
        <p:spPr>
          <a:xfrm>
            <a:off x="0" y="126775"/>
            <a:ext cx="8715300" cy="50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Clr>
                <a:schemeClr val="dk1"/>
              </a:buClr>
              <a:buSzPts val="1100"/>
              <a:buFont typeface="Arial"/>
              <a:buNone/>
            </a:pPr>
            <a:r>
              <a:rPr lang="en" sz="2094" b="1">
                <a:solidFill>
                  <a:srgbClr val="00529F"/>
                </a:solidFill>
              </a:rPr>
              <a:t>Sample Email Sent to Assigned Reviewers by the Coordinator</a:t>
            </a:r>
            <a:endParaRPr sz="1800">
              <a:solidFill>
                <a:schemeClr val="dk2"/>
              </a:solidFill>
            </a:endParaRPr>
          </a:p>
        </p:txBody>
      </p:sp>
      <p:pic>
        <p:nvPicPr>
          <p:cNvPr id="104" name="Google Shape;104;g3c2aa66756c_0_134"/>
          <p:cNvPicPr preferRelativeResize="0"/>
          <p:nvPr/>
        </p:nvPicPr>
        <p:blipFill>
          <a:blip r:embed="rId4">
            <a:alphaModFix/>
          </a:blip>
          <a:stretch>
            <a:fillRect/>
          </a:stretch>
        </p:blipFill>
        <p:spPr>
          <a:xfrm>
            <a:off x="126463" y="941900"/>
            <a:ext cx="8891080" cy="3908500"/>
          </a:xfrm>
          <a:prstGeom prst="rect">
            <a:avLst/>
          </a:prstGeom>
          <a:noFill/>
          <a:ln>
            <a:noFill/>
          </a:ln>
        </p:spPr>
      </p:pic>
      <p:sp>
        <p:nvSpPr>
          <p:cNvPr id="105" name="Google Shape;105;g3c2aa66756c_0_1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5</a:t>
            </a:fld>
            <a:endParaRPr/>
          </a:p>
        </p:txBody>
      </p:sp>
      <p:sp>
        <p:nvSpPr>
          <p:cNvPr id="106" name="Google Shape;106;g3c2aa66756c_0_134"/>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g3c325985b9b_1_51"/>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112" name="Google Shape;112;g3c325985b9b_1_51"/>
          <p:cNvSpPr txBox="1"/>
          <p:nvPr/>
        </p:nvSpPr>
        <p:spPr>
          <a:xfrm>
            <a:off x="229800" y="126775"/>
            <a:ext cx="8715300" cy="50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Clr>
                <a:schemeClr val="dk1"/>
              </a:buClr>
              <a:buSzPts val="1100"/>
              <a:buFont typeface="Arial"/>
              <a:buNone/>
            </a:pPr>
            <a:r>
              <a:rPr lang="en" sz="2094" b="1">
                <a:solidFill>
                  <a:srgbClr val="00529F"/>
                </a:solidFill>
              </a:rPr>
              <a:t>Sample Reminder Email Sent by the Lab Coordinator</a:t>
            </a:r>
            <a:endParaRPr sz="1800">
              <a:solidFill>
                <a:schemeClr val="dk2"/>
              </a:solidFill>
            </a:endParaRPr>
          </a:p>
        </p:txBody>
      </p:sp>
      <p:sp>
        <p:nvSpPr>
          <p:cNvPr id="113" name="Google Shape;113;g3c325985b9b_1_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6</a:t>
            </a:fld>
            <a:endParaRPr/>
          </a:p>
        </p:txBody>
      </p:sp>
      <p:sp>
        <p:nvSpPr>
          <p:cNvPr id="114" name="Google Shape;114;g3c325985b9b_1_51"/>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pic>
        <p:nvPicPr>
          <p:cNvPr id="115" name="Google Shape;115;g3c325985b9b_1_51"/>
          <p:cNvPicPr preferRelativeResize="0"/>
          <p:nvPr/>
        </p:nvPicPr>
        <p:blipFill>
          <a:blip r:embed="rId4">
            <a:alphaModFix/>
          </a:blip>
          <a:stretch>
            <a:fillRect/>
          </a:stretch>
        </p:blipFill>
        <p:spPr>
          <a:xfrm>
            <a:off x="303788" y="633775"/>
            <a:ext cx="7980174" cy="4307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pic>
        <p:nvPicPr>
          <p:cNvPr id="120" name="Google Shape;120;g3c325985b9b_1_60"/>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121" name="Google Shape;121;g3c325985b9b_1_60"/>
          <p:cNvSpPr txBox="1"/>
          <p:nvPr/>
        </p:nvSpPr>
        <p:spPr>
          <a:xfrm>
            <a:off x="54025" y="46247"/>
            <a:ext cx="8596500" cy="50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chemeClr val="dk1"/>
              </a:buClr>
              <a:buSzPts val="1100"/>
              <a:buFont typeface="Arial"/>
              <a:buNone/>
            </a:pPr>
            <a:r>
              <a:rPr lang="en" sz="2094" b="1">
                <a:solidFill>
                  <a:srgbClr val="00529F"/>
                </a:solidFill>
              </a:rPr>
              <a:t>Example of a Reviewer Declining a Review for Personal Reasons</a:t>
            </a:r>
            <a:endParaRPr sz="2094" b="1">
              <a:solidFill>
                <a:srgbClr val="00529F"/>
              </a:solidFill>
            </a:endParaRPr>
          </a:p>
        </p:txBody>
      </p:sp>
      <p:sp>
        <p:nvSpPr>
          <p:cNvPr id="122" name="Google Shape;122;g3c325985b9b_1_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7</a:t>
            </a:fld>
            <a:endParaRPr/>
          </a:p>
        </p:txBody>
      </p:sp>
      <p:sp>
        <p:nvSpPr>
          <p:cNvPr id="123" name="Google Shape;123;g3c325985b9b_1_60"/>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pic>
        <p:nvPicPr>
          <p:cNvPr id="124" name="Google Shape;124;g3c325985b9b_1_60"/>
          <p:cNvPicPr preferRelativeResize="0"/>
          <p:nvPr/>
        </p:nvPicPr>
        <p:blipFill>
          <a:blip r:embed="rId4">
            <a:alphaModFix/>
          </a:blip>
          <a:stretch>
            <a:fillRect/>
          </a:stretch>
        </p:blipFill>
        <p:spPr>
          <a:xfrm>
            <a:off x="3654026" y="733325"/>
            <a:ext cx="1942992" cy="4213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g3c2aa66756c_0_39"/>
          <p:cNvSpPr txBox="1">
            <a:spLocks noGrp="1"/>
          </p:cNvSpPr>
          <p:nvPr>
            <p:ph type="title"/>
          </p:nvPr>
        </p:nvSpPr>
        <p:spPr>
          <a:xfrm>
            <a:off x="311700" y="445025"/>
            <a:ext cx="8520600" cy="44415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400"/>
              </a:spcBef>
              <a:spcAft>
                <a:spcPts val="0"/>
              </a:spcAft>
              <a:buSzPct val="52520"/>
              <a:buNone/>
            </a:pPr>
            <a:r>
              <a:rPr lang="en" sz="2094" b="1">
                <a:solidFill>
                  <a:srgbClr val="00529F"/>
                </a:solidFill>
              </a:rPr>
              <a:t>Current Process (As-Is): Step-by-Step Flow</a:t>
            </a:r>
            <a:br>
              <a:rPr lang="en" sz="2094" b="1">
                <a:solidFill>
                  <a:srgbClr val="00529F"/>
                </a:solidFill>
              </a:rPr>
            </a:br>
            <a:endParaRPr sz="1300" b="1"/>
          </a:p>
          <a:p>
            <a:pPr marL="0" lvl="0" indent="0" algn="l" rtl="0">
              <a:lnSpc>
                <a:spcPct val="115000"/>
              </a:lnSpc>
              <a:spcBef>
                <a:spcPts val="1200"/>
              </a:spcBef>
              <a:spcAft>
                <a:spcPts val="0"/>
              </a:spcAft>
              <a:buNone/>
            </a:pPr>
            <a:r>
              <a:rPr lang="en" sz="1550"/>
              <a:t>4</a:t>
            </a:r>
            <a:r>
              <a:rPr lang="en" sz="1550" b="1"/>
              <a:t>.	Review Completion</a:t>
            </a:r>
            <a:endParaRPr sz="1550" b="1"/>
          </a:p>
          <a:p>
            <a:pPr marL="914400" lvl="1" indent="-317182" algn="l" rtl="0">
              <a:lnSpc>
                <a:spcPct val="115000"/>
              </a:lnSpc>
              <a:spcBef>
                <a:spcPts val="1200"/>
              </a:spcBef>
              <a:spcAft>
                <a:spcPts val="0"/>
              </a:spcAft>
              <a:buSzPct val="100000"/>
              <a:buChar char="○"/>
            </a:pPr>
            <a:r>
              <a:rPr lang="en" sz="1550"/>
              <a:t>Reviewers email authors and coordinator when done.</a:t>
            </a:r>
            <a:br>
              <a:rPr lang="en" sz="1550"/>
            </a:br>
            <a:endParaRPr sz="1550"/>
          </a:p>
          <a:p>
            <a:pPr marL="0" lvl="0" indent="0" algn="l" rtl="0">
              <a:lnSpc>
                <a:spcPct val="115000"/>
              </a:lnSpc>
              <a:spcBef>
                <a:spcPts val="1200"/>
              </a:spcBef>
              <a:spcAft>
                <a:spcPts val="0"/>
              </a:spcAft>
              <a:buNone/>
            </a:pPr>
            <a:r>
              <a:rPr lang="en" sz="1550"/>
              <a:t>5.  </a:t>
            </a:r>
            <a:r>
              <a:rPr lang="en" sz="1550" b="1"/>
              <a:t>	Feedback on Obtained Reviews</a:t>
            </a:r>
            <a:endParaRPr sz="1550" b="1"/>
          </a:p>
          <a:p>
            <a:pPr marL="457200" lvl="0" indent="-317182" algn="l" rtl="0">
              <a:lnSpc>
                <a:spcPct val="115000"/>
              </a:lnSpc>
              <a:spcBef>
                <a:spcPts val="1200"/>
              </a:spcBef>
              <a:spcAft>
                <a:spcPts val="0"/>
              </a:spcAft>
              <a:buSzPct val="100000"/>
              <a:buChar char="●"/>
            </a:pPr>
            <a:r>
              <a:rPr lang="en" sz="1550"/>
              <a:t>After the review deadline, the coordinator manually follows up with authors to assess:</a:t>
            </a:r>
            <a:br>
              <a:rPr lang="en" sz="1550"/>
            </a:br>
            <a:endParaRPr sz="1550"/>
          </a:p>
          <a:p>
            <a:pPr marL="914400" lvl="1" indent="-317182" algn="l" rtl="0">
              <a:lnSpc>
                <a:spcPct val="115000"/>
              </a:lnSpc>
              <a:spcBef>
                <a:spcPts val="0"/>
              </a:spcBef>
              <a:spcAft>
                <a:spcPts val="0"/>
              </a:spcAft>
              <a:buSzPct val="100000"/>
              <a:buChar char="○"/>
            </a:pPr>
            <a:r>
              <a:rPr lang="en" sz="1550"/>
              <a:t>Whether all assigned reviewers completed their reviews on time.</a:t>
            </a:r>
            <a:br>
              <a:rPr lang="en" sz="1550"/>
            </a:br>
            <a:endParaRPr sz="1550"/>
          </a:p>
          <a:p>
            <a:pPr marL="914400" lvl="1" indent="-317182" algn="l" rtl="0">
              <a:lnSpc>
                <a:spcPct val="115000"/>
              </a:lnSpc>
              <a:spcBef>
                <a:spcPts val="0"/>
              </a:spcBef>
              <a:spcAft>
                <a:spcPts val="0"/>
              </a:spcAft>
              <a:buSzPct val="100000"/>
              <a:buChar char="○"/>
            </a:pPr>
            <a:r>
              <a:rPr lang="en" sz="1550"/>
              <a:t>The perceived quality and usefulness of the received reviews.</a:t>
            </a:r>
            <a:br>
              <a:rPr lang="en" sz="1550"/>
            </a:br>
            <a:endParaRPr sz="1550"/>
          </a:p>
          <a:p>
            <a:pPr marL="0" lvl="0" indent="0" algn="l" rtl="0">
              <a:lnSpc>
                <a:spcPct val="115000"/>
              </a:lnSpc>
              <a:spcBef>
                <a:spcPts val="1200"/>
              </a:spcBef>
              <a:spcAft>
                <a:spcPts val="0"/>
              </a:spcAft>
              <a:buNone/>
            </a:pPr>
            <a:endParaRPr sz="1550"/>
          </a:p>
          <a:p>
            <a:pPr marL="0" lvl="0" indent="0" algn="l" rtl="0">
              <a:lnSpc>
                <a:spcPct val="100000"/>
              </a:lnSpc>
              <a:spcBef>
                <a:spcPts val="1200"/>
              </a:spcBef>
              <a:spcAft>
                <a:spcPts val="0"/>
              </a:spcAft>
              <a:buSzPct val="111111"/>
              <a:buNone/>
            </a:pPr>
            <a:endParaRPr/>
          </a:p>
        </p:txBody>
      </p:sp>
      <p:pic>
        <p:nvPicPr>
          <p:cNvPr id="130" name="Google Shape;130;g3c2aa66756c_0_39"/>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131" name="Google Shape;131;g3c2aa66756c_0_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8</a:t>
            </a:fld>
            <a:endParaRPr/>
          </a:p>
        </p:txBody>
      </p:sp>
      <p:sp>
        <p:nvSpPr>
          <p:cNvPr id="132" name="Google Shape;132;g3c2aa66756c_0_39"/>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g3c2aa66756c_0_142"/>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138" name="Google Shape;138;g3c2aa66756c_0_142"/>
          <p:cNvSpPr txBox="1"/>
          <p:nvPr/>
        </p:nvSpPr>
        <p:spPr>
          <a:xfrm>
            <a:off x="179400" y="312175"/>
            <a:ext cx="8702400" cy="50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Clr>
                <a:schemeClr val="dk1"/>
              </a:buClr>
              <a:buSzPts val="1100"/>
              <a:buFont typeface="Arial"/>
              <a:buNone/>
            </a:pPr>
            <a:r>
              <a:rPr lang="en" sz="2094" b="1">
                <a:solidFill>
                  <a:srgbClr val="00529F"/>
                </a:solidFill>
              </a:rPr>
              <a:t>Sample Email Sent by a Reviewer After Completing the Review</a:t>
            </a:r>
            <a:endParaRPr sz="1800">
              <a:solidFill>
                <a:schemeClr val="dk2"/>
              </a:solidFill>
            </a:endParaRPr>
          </a:p>
        </p:txBody>
      </p:sp>
      <p:pic>
        <p:nvPicPr>
          <p:cNvPr id="139" name="Google Shape;139;g3c2aa66756c_0_142"/>
          <p:cNvPicPr preferRelativeResize="0"/>
          <p:nvPr/>
        </p:nvPicPr>
        <p:blipFill>
          <a:blip r:embed="rId4">
            <a:alphaModFix/>
          </a:blip>
          <a:stretch>
            <a:fillRect/>
          </a:stretch>
        </p:blipFill>
        <p:spPr>
          <a:xfrm>
            <a:off x="179388" y="1341700"/>
            <a:ext cx="8785226" cy="2460100"/>
          </a:xfrm>
          <a:prstGeom prst="rect">
            <a:avLst/>
          </a:prstGeom>
          <a:noFill/>
          <a:ln>
            <a:noFill/>
          </a:ln>
        </p:spPr>
      </p:pic>
      <p:sp>
        <p:nvSpPr>
          <p:cNvPr id="140" name="Google Shape;140;g3c2aa66756c_0_1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9</a:t>
            </a:fld>
            <a:endParaRPr/>
          </a:p>
        </p:txBody>
      </p:sp>
      <p:sp>
        <p:nvSpPr>
          <p:cNvPr id="141" name="Google Shape;141;g3c2aa66756c_0_1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
        <p:nvSpPr>
          <p:cNvPr id="142" name="Google Shape;142;g3c2aa66756c_0_142"/>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g3c2aa66756c_0_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400"/>
              </a:spcBef>
              <a:spcAft>
                <a:spcPts val="0"/>
              </a:spcAft>
              <a:buClr>
                <a:schemeClr val="dk1"/>
              </a:buClr>
              <a:buSzPct val="52520"/>
              <a:buFont typeface="Arial"/>
              <a:buNone/>
            </a:pPr>
            <a:r>
              <a:rPr lang="en" sz="2094" b="1">
                <a:solidFill>
                  <a:srgbClr val="00529F"/>
                </a:solidFill>
              </a:rPr>
              <a:t>Current Process (As-Is): Step-by-Step Flow</a:t>
            </a:r>
            <a:endParaRPr sz="1650" b="1"/>
          </a:p>
          <a:p>
            <a:pPr marL="0" lvl="0" indent="0" algn="l" rtl="0">
              <a:lnSpc>
                <a:spcPct val="115000"/>
              </a:lnSpc>
              <a:spcBef>
                <a:spcPts val="1200"/>
              </a:spcBef>
              <a:spcAft>
                <a:spcPts val="0"/>
              </a:spcAft>
              <a:buClr>
                <a:schemeClr val="dk1"/>
              </a:buClr>
              <a:buSzPct val="70967"/>
              <a:buFont typeface="Arial"/>
              <a:buNone/>
            </a:pPr>
            <a:r>
              <a:rPr lang="en" sz="1550"/>
              <a:t>6.	</a:t>
            </a:r>
            <a:r>
              <a:rPr lang="en" sz="1550" b="1"/>
              <a:t>Iteration</a:t>
            </a:r>
            <a:endParaRPr sz="1550" b="1"/>
          </a:p>
          <a:p>
            <a:pPr marL="914400" lvl="1" indent="-317182" algn="l" rtl="0">
              <a:lnSpc>
                <a:spcPct val="115000"/>
              </a:lnSpc>
              <a:spcBef>
                <a:spcPts val="1200"/>
              </a:spcBef>
              <a:spcAft>
                <a:spcPts val="0"/>
              </a:spcAft>
              <a:buSzPct val="100000"/>
              <a:buChar char="○"/>
            </a:pPr>
            <a:r>
              <a:rPr lang="en" sz="1550"/>
              <a:t>Authors read comments, provide feedback and may ask clarifications on Overleaf comments.</a:t>
            </a:r>
            <a:endParaRPr sz="1550"/>
          </a:p>
          <a:p>
            <a:pPr marL="914400" lvl="1" indent="-317182" algn="l" rtl="0">
              <a:lnSpc>
                <a:spcPct val="115000"/>
              </a:lnSpc>
              <a:spcBef>
                <a:spcPts val="0"/>
              </a:spcBef>
              <a:spcAft>
                <a:spcPts val="0"/>
              </a:spcAft>
              <a:buSzPct val="100000"/>
              <a:buChar char="○"/>
            </a:pPr>
            <a:r>
              <a:rPr lang="en" sz="1550"/>
              <a:t>Reviewers periodically revisit the Overleaf project to respond possible questions and engage in further discussion when needed.</a:t>
            </a:r>
            <a:endParaRPr sz="1550"/>
          </a:p>
          <a:p>
            <a:pPr marL="914400" lvl="1" indent="-317182" algn="l" rtl="0">
              <a:lnSpc>
                <a:spcPct val="115000"/>
              </a:lnSpc>
              <a:spcBef>
                <a:spcPts val="0"/>
              </a:spcBef>
              <a:spcAft>
                <a:spcPts val="0"/>
              </a:spcAft>
              <a:buSzPct val="100000"/>
              <a:buChar char="○"/>
            </a:pPr>
            <a:r>
              <a:rPr lang="en" sz="1550"/>
              <a:t>In cases of rejection or major revision, the process is repeated after manuscript revision. Maintaining a record of previous reviewers is important, </a:t>
            </a:r>
            <a:r>
              <a:rPr lang="en" sz="1550">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as new reviewers are usually assigned in later rounds.</a:t>
            </a:r>
            <a:endParaRPr sz="1550" b="1"/>
          </a:p>
          <a:p>
            <a:pPr marL="0" lvl="0" indent="0" algn="l" rtl="0">
              <a:lnSpc>
                <a:spcPct val="115000"/>
              </a:lnSpc>
              <a:spcBef>
                <a:spcPts val="1200"/>
              </a:spcBef>
              <a:spcAft>
                <a:spcPts val="0"/>
              </a:spcAft>
              <a:buNone/>
            </a:pPr>
            <a:r>
              <a:rPr lang="en" sz="1550" b="1"/>
              <a:t>7.	Manual Author Checks</a:t>
            </a:r>
            <a:endParaRPr sz="1550" b="1"/>
          </a:p>
          <a:p>
            <a:pPr marL="914400" lvl="1" indent="-317182" algn="l" rtl="0">
              <a:lnSpc>
                <a:spcPct val="115000"/>
              </a:lnSpc>
              <a:spcBef>
                <a:spcPts val="1200"/>
              </a:spcBef>
              <a:spcAft>
                <a:spcPts val="0"/>
              </a:spcAft>
              <a:buSzPct val="100000"/>
              <a:buChar char="○"/>
            </a:pPr>
            <a:r>
              <a:rPr lang="en" sz="1550"/>
              <a:t>Authors:</a:t>
            </a:r>
            <a:endParaRPr sz="1550"/>
          </a:p>
          <a:p>
            <a:pPr marL="1371600" lvl="2" indent="-317182" algn="l" rtl="0">
              <a:lnSpc>
                <a:spcPct val="115000"/>
              </a:lnSpc>
              <a:spcBef>
                <a:spcPts val="0"/>
              </a:spcBef>
              <a:spcAft>
                <a:spcPts val="0"/>
              </a:spcAft>
              <a:buSzPct val="100000"/>
              <a:buChar char="■"/>
            </a:pPr>
            <a:r>
              <a:rPr lang="en" sz="1550"/>
              <a:t>Use AI-driven review tools for further improvement</a:t>
            </a:r>
            <a:endParaRPr sz="1550"/>
          </a:p>
          <a:p>
            <a:pPr marL="1371600" lvl="2" indent="-317182" algn="l" rtl="0">
              <a:lnSpc>
                <a:spcPct val="115000"/>
              </a:lnSpc>
              <a:spcBef>
                <a:spcPts val="0"/>
              </a:spcBef>
              <a:spcAft>
                <a:spcPts val="0"/>
              </a:spcAft>
              <a:buSzPct val="100000"/>
              <a:buChar char="■"/>
            </a:pPr>
            <a:r>
              <a:rPr lang="en" sz="1550"/>
              <a:t>Check venue requirements and formatting</a:t>
            </a:r>
            <a:endParaRPr sz="1550"/>
          </a:p>
          <a:p>
            <a:pPr marL="1371600" lvl="2" indent="-317182" algn="l" rtl="0">
              <a:lnSpc>
                <a:spcPct val="115000"/>
              </a:lnSpc>
              <a:spcBef>
                <a:spcPts val="0"/>
              </a:spcBef>
              <a:spcAft>
                <a:spcPts val="0"/>
              </a:spcAft>
              <a:buSzPct val="100360"/>
              <a:buChar char="■"/>
            </a:pPr>
            <a:r>
              <a:rPr lang="en" sz="1544"/>
              <a:t>Control a checklist appropriate to the paper type</a:t>
            </a:r>
            <a:endParaRPr sz="1550"/>
          </a:p>
          <a:p>
            <a:pPr marL="457200" lvl="0" indent="0" algn="l" rtl="0">
              <a:lnSpc>
                <a:spcPct val="115000"/>
              </a:lnSpc>
              <a:spcBef>
                <a:spcPts val="1200"/>
              </a:spcBef>
              <a:spcAft>
                <a:spcPts val="0"/>
              </a:spcAft>
              <a:buNone/>
            </a:pPr>
            <a:endParaRPr sz="1550"/>
          </a:p>
          <a:p>
            <a:pPr marL="0" lvl="0" indent="0" algn="l" rtl="0">
              <a:lnSpc>
                <a:spcPct val="100000"/>
              </a:lnSpc>
              <a:spcBef>
                <a:spcPts val="1200"/>
              </a:spcBef>
              <a:spcAft>
                <a:spcPts val="0"/>
              </a:spcAft>
              <a:buSzPct val="111111"/>
              <a:buNone/>
            </a:pPr>
            <a:endParaRPr/>
          </a:p>
        </p:txBody>
      </p:sp>
      <p:pic>
        <p:nvPicPr>
          <p:cNvPr id="148" name="Google Shape;148;g3c2aa66756c_0_24"/>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149" name="Google Shape;149;g3c2aa66756c_0_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10</a:t>
            </a:fld>
            <a:endParaRPr/>
          </a:p>
        </p:txBody>
      </p:sp>
      <p:sp>
        <p:nvSpPr>
          <p:cNvPr id="150" name="Google Shape;150;g3c2aa66756c_0_24"/>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3c325985b9b_1_36"/>
          <p:cNvSpPr txBox="1">
            <a:spLocks noGrp="1"/>
          </p:cNvSpPr>
          <p:nvPr>
            <p:ph type="title"/>
          </p:nvPr>
        </p:nvSpPr>
        <p:spPr>
          <a:xfrm>
            <a:off x="149125" y="93475"/>
            <a:ext cx="8634900" cy="5655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400"/>
              </a:spcBef>
              <a:spcAft>
                <a:spcPts val="0"/>
              </a:spcAft>
              <a:buSzPct val="52520"/>
              <a:buNone/>
            </a:pPr>
            <a:r>
              <a:rPr lang="en" sz="2094" b="1">
                <a:solidFill>
                  <a:srgbClr val="00529F"/>
                </a:solidFill>
              </a:rPr>
              <a:t>Sample of a Quality Checklist</a:t>
            </a:r>
            <a:endParaRPr sz="2094" b="1">
              <a:solidFill>
                <a:srgbClr val="00529F"/>
              </a:solidFill>
            </a:endParaRPr>
          </a:p>
          <a:p>
            <a:pPr marL="0" lvl="0" indent="0" algn="l" rtl="0">
              <a:lnSpc>
                <a:spcPct val="150000"/>
              </a:lnSpc>
              <a:spcBef>
                <a:spcPts val="1200"/>
              </a:spcBef>
              <a:spcAft>
                <a:spcPts val="0"/>
              </a:spcAft>
              <a:buNone/>
            </a:pPr>
            <a:endParaRPr sz="1550"/>
          </a:p>
          <a:p>
            <a:pPr marL="0" lvl="0" indent="0" algn="l" rtl="0">
              <a:lnSpc>
                <a:spcPct val="150000"/>
              </a:lnSpc>
              <a:spcBef>
                <a:spcPts val="1200"/>
              </a:spcBef>
              <a:spcAft>
                <a:spcPts val="0"/>
              </a:spcAft>
              <a:buNone/>
            </a:pPr>
            <a:endParaRPr sz="1550" b="1"/>
          </a:p>
          <a:p>
            <a:pPr marL="457200" lvl="0" indent="0" algn="l" rtl="0">
              <a:lnSpc>
                <a:spcPct val="115000"/>
              </a:lnSpc>
              <a:spcBef>
                <a:spcPts val="1200"/>
              </a:spcBef>
              <a:spcAft>
                <a:spcPts val="0"/>
              </a:spcAft>
              <a:buNone/>
            </a:pPr>
            <a:endParaRPr sz="1550"/>
          </a:p>
          <a:p>
            <a:pPr marL="0" lvl="0" indent="0" algn="l" rtl="0">
              <a:lnSpc>
                <a:spcPct val="100000"/>
              </a:lnSpc>
              <a:spcBef>
                <a:spcPts val="1200"/>
              </a:spcBef>
              <a:spcAft>
                <a:spcPts val="0"/>
              </a:spcAft>
              <a:buSzPct val="111111"/>
              <a:buNone/>
            </a:pPr>
            <a:endParaRPr/>
          </a:p>
        </p:txBody>
      </p:sp>
      <p:pic>
        <p:nvPicPr>
          <p:cNvPr id="156" name="Google Shape;156;g3c325985b9b_1_36"/>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157" name="Google Shape;157;g3c325985b9b_1_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11</a:t>
            </a:fld>
            <a:endParaRPr/>
          </a:p>
        </p:txBody>
      </p:sp>
      <p:sp>
        <p:nvSpPr>
          <p:cNvPr id="158" name="Google Shape;158;g3c325985b9b_1_36"/>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pic>
        <p:nvPicPr>
          <p:cNvPr id="159" name="Google Shape;159;g3c325985b9b_1_36"/>
          <p:cNvPicPr preferRelativeResize="0"/>
          <p:nvPr/>
        </p:nvPicPr>
        <p:blipFill rotWithShape="1">
          <a:blip r:embed="rId4">
            <a:alphaModFix/>
          </a:blip>
          <a:srcRect t="-1270" b="1269"/>
          <a:stretch/>
        </p:blipFill>
        <p:spPr>
          <a:xfrm>
            <a:off x="204625" y="495276"/>
            <a:ext cx="8079321" cy="4368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c2aa66756c_0_45"/>
          <p:cNvSpPr txBox="1">
            <a:spLocks noGrp="1"/>
          </p:cNvSpPr>
          <p:nvPr>
            <p:ph type="title"/>
          </p:nvPr>
        </p:nvSpPr>
        <p:spPr>
          <a:xfrm>
            <a:off x="311700" y="445025"/>
            <a:ext cx="8634900" cy="4502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400"/>
              </a:spcBef>
              <a:spcAft>
                <a:spcPts val="0"/>
              </a:spcAft>
              <a:buSzPct val="52520"/>
              <a:buNone/>
            </a:pPr>
            <a:r>
              <a:rPr lang="en" sz="2094" b="1">
                <a:solidFill>
                  <a:srgbClr val="00529F"/>
                </a:solidFill>
              </a:rPr>
              <a:t>Key Limitations of the Current Process</a:t>
            </a:r>
            <a:endParaRPr sz="2094" b="1">
              <a:solidFill>
                <a:srgbClr val="00529F"/>
              </a:solidFill>
            </a:endParaRPr>
          </a:p>
          <a:p>
            <a:pPr marL="0" lvl="0" indent="0" algn="l" rtl="0">
              <a:lnSpc>
                <a:spcPct val="115000"/>
              </a:lnSpc>
              <a:spcBef>
                <a:spcPts val="1400"/>
              </a:spcBef>
              <a:spcAft>
                <a:spcPts val="0"/>
              </a:spcAft>
              <a:buSzPct val="68989"/>
              <a:buNone/>
            </a:pPr>
            <a:r>
              <a:rPr lang="en" sz="1594" b="1"/>
              <a:t>Manual &amp; Error-Prone Coordination</a:t>
            </a:r>
            <a:endParaRPr sz="1594" b="1"/>
          </a:p>
          <a:p>
            <a:pPr marL="457200" lvl="0" indent="-317182" algn="l" rtl="0">
              <a:lnSpc>
                <a:spcPct val="150000"/>
              </a:lnSpc>
              <a:spcBef>
                <a:spcPts val="1400"/>
              </a:spcBef>
              <a:spcAft>
                <a:spcPts val="0"/>
              </a:spcAft>
              <a:buSzPct val="100000"/>
              <a:buChar char="●"/>
            </a:pPr>
            <a:r>
              <a:rPr lang="en" sz="1550"/>
              <a:t>Reviewer workload is not balanced.</a:t>
            </a:r>
            <a:endParaRPr sz="1550"/>
          </a:p>
          <a:p>
            <a:pPr marL="457200" lvl="0" indent="-317182" algn="l" rtl="0">
              <a:lnSpc>
                <a:spcPct val="150000"/>
              </a:lnSpc>
              <a:spcBef>
                <a:spcPts val="0"/>
              </a:spcBef>
              <a:spcAft>
                <a:spcPts val="0"/>
              </a:spcAft>
              <a:buSzPct val="100000"/>
              <a:buChar char="●"/>
            </a:pPr>
            <a:r>
              <a:rPr lang="en" sz="1550"/>
              <a:t>Deadlines are tracked manually.</a:t>
            </a:r>
            <a:endParaRPr sz="1550"/>
          </a:p>
          <a:p>
            <a:pPr marL="457200" lvl="0" indent="-317182" algn="l" rtl="0">
              <a:lnSpc>
                <a:spcPct val="150000"/>
              </a:lnSpc>
              <a:spcBef>
                <a:spcPts val="0"/>
              </a:spcBef>
              <a:spcAft>
                <a:spcPts val="0"/>
              </a:spcAft>
              <a:buSzPct val="100000"/>
              <a:buChar char="●"/>
            </a:pPr>
            <a:r>
              <a:rPr lang="en" sz="1550"/>
              <a:t>Missed or late reviews may go unnoticed.</a:t>
            </a:r>
            <a:endParaRPr sz="1550"/>
          </a:p>
          <a:p>
            <a:pPr marL="457200" lvl="0" indent="-317182" algn="l" rtl="0">
              <a:lnSpc>
                <a:spcPct val="150000"/>
              </a:lnSpc>
              <a:spcBef>
                <a:spcPts val="0"/>
              </a:spcBef>
              <a:spcAft>
                <a:spcPts val="0"/>
              </a:spcAft>
              <a:buSzPct val="100000"/>
              <a:buChar char="●"/>
            </a:pPr>
            <a:r>
              <a:rPr lang="en" sz="1550"/>
              <a:t>Does not scale as submissions increase.</a:t>
            </a:r>
            <a:br>
              <a:rPr lang="en" sz="1550"/>
            </a:br>
            <a:endParaRPr sz="1550"/>
          </a:p>
          <a:p>
            <a:pPr marL="0" lvl="0" indent="0" algn="l" rtl="0">
              <a:lnSpc>
                <a:spcPct val="150000"/>
              </a:lnSpc>
              <a:spcBef>
                <a:spcPts val="1200"/>
              </a:spcBef>
              <a:spcAft>
                <a:spcPts val="0"/>
              </a:spcAft>
              <a:buNone/>
            </a:pPr>
            <a:r>
              <a:rPr lang="en" sz="1550" b="1"/>
              <a:t>No Traceability of Reviewer Performance</a:t>
            </a:r>
            <a:endParaRPr sz="1550" b="1"/>
          </a:p>
          <a:p>
            <a:pPr marL="457200" lvl="0" indent="-317182" algn="l" rtl="0">
              <a:lnSpc>
                <a:spcPct val="150000"/>
              </a:lnSpc>
              <a:spcBef>
                <a:spcPts val="1200"/>
              </a:spcBef>
              <a:spcAft>
                <a:spcPts val="0"/>
              </a:spcAft>
              <a:buSzPct val="100000"/>
              <a:buChar char="●"/>
            </a:pPr>
            <a:r>
              <a:rPr lang="en" sz="1550"/>
              <a:t>Review quality feedback is: informal, subjective, and not stored.</a:t>
            </a:r>
            <a:endParaRPr sz="1550"/>
          </a:p>
          <a:p>
            <a:pPr marL="457200" lvl="0" indent="-317182" algn="l" rtl="0">
              <a:lnSpc>
                <a:spcPct val="150000"/>
              </a:lnSpc>
              <a:spcBef>
                <a:spcPts val="0"/>
              </a:spcBef>
              <a:spcAft>
                <a:spcPts val="0"/>
              </a:spcAft>
              <a:buSzPct val="100000"/>
              <a:buChar char="●"/>
            </a:pPr>
            <a:r>
              <a:rPr lang="en" sz="1550"/>
              <a:t>No historical data on reviewer performance.</a:t>
            </a:r>
            <a:endParaRPr sz="1550"/>
          </a:p>
          <a:p>
            <a:pPr marL="0" lvl="0" indent="0" algn="l" rtl="0">
              <a:lnSpc>
                <a:spcPct val="150000"/>
              </a:lnSpc>
              <a:spcBef>
                <a:spcPts val="1200"/>
              </a:spcBef>
              <a:spcAft>
                <a:spcPts val="0"/>
              </a:spcAft>
              <a:buNone/>
            </a:pPr>
            <a:endParaRPr sz="1550" b="1"/>
          </a:p>
          <a:p>
            <a:pPr marL="457200" lvl="0" indent="0" algn="l" rtl="0">
              <a:lnSpc>
                <a:spcPct val="115000"/>
              </a:lnSpc>
              <a:spcBef>
                <a:spcPts val="1200"/>
              </a:spcBef>
              <a:spcAft>
                <a:spcPts val="0"/>
              </a:spcAft>
              <a:buNone/>
            </a:pPr>
            <a:endParaRPr sz="1550"/>
          </a:p>
          <a:p>
            <a:pPr marL="0" lvl="0" indent="0" algn="l" rtl="0">
              <a:lnSpc>
                <a:spcPct val="100000"/>
              </a:lnSpc>
              <a:spcBef>
                <a:spcPts val="1200"/>
              </a:spcBef>
              <a:spcAft>
                <a:spcPts val="0"/>
              </a:spcAft>
              <a:buSzPct val="111111"/>
              <a:buNone/>
            </a:pPr>
            <a:endParaRPr/>
          </a:p>
        </p:txBody>
      </p:sp>
      <p:pic>
        <p:nvPicPr>
          <p:cNvPr id="165" name="Google Shape;165;g3c2aa66756c_0_45"/>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166" name="Google Shape;166;g3c2aa66756c_0_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12</a:t>
            </a:fld>
            <a:endParaRPr/>
          </a:p>
        </p:txBody>
      </p:sp>
      <p:sp>
        <p:nvSpPr>
          <p:cNvPr id="167" name="Google Shape;167;g3c2aa66756c_0_45"/>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3c2aa66756c_0_5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400"/>
              </a:spcBef>
              <a:spcAft>
                <a:spcPts val="0"/>
              </a:spcAft>
              <a:buSzPct val="52520"/>
              <a:buNone/>
            </a:pPr>
            <a:r>
              <a:rPr lang="en" sz="2094" b="1">
                <a:solidFill>
                  <a:srgbClr val="00529F"/>
                </a:solidFill>
              </a:rPr>
              <a:t>Key Limitations of the Current Process</a:t>
            </a:r>
            <a:endParaRPr sz="2094" b="1">
              <a:solidFill>
                <a:srgbClr val="00529F"/>
              </a:solidFill>
            </a:endParaRPr>
          </a:p>
          <a:p>
            <a:pPr marL="0" lvl="0" indent="0" algn="l" rtl="0">
              <a:lnSpc>
                <a:spcPct val="115000"/>
              </a:lnSpc>
              <a:spcBef>
                <a:spcPts val="1400"/>
              </a:spcBef>
              <a:spcAft>
                <a:spcPts val="0"/>
              </a:spcAft>
              <a:buSzPct val="68989"/>
              <a:buNone/>
            </a:pPr>
            <a:r>
              <a:rPr lang="en" sz="1594" b="1"/>
              <a:t>Heavy Cognitive Load on Authors</a:t>
            </a:r>
            <a:endParaRPr sz="1594" b="1"/>
          </a:p>
          <a:p>
            <a:pPr marL="457200" lvl="0" indent="-317182" algn="l" rtl="0">
              <a:lnSpc>
                <a:spcPct val="150000"/>
              </a:lnSpc>
              <a:spcBef>
                <a:spcPts val="1200"/>
              </a:spcBef>
              <a:spcAft>
                <a:spcPts val="0"/>
              </a:spcAft>
              <a:buSzPct val="100000"/>
              <a:buChar char="●"/>
            </a:pPr>
            <a:r>
              <a:rPr lang="en" sz="1550"/>
              <a:t>Authors must manually handle:</a:t>
            </a:r>
            <a:endParaRPr sz="1550"/>
          </a:p>
          <a:p>
            <a:pPr marL="914400" lvl="1" indent="-317182" algn="l" rtl="0">
              <a:lnSpc>
                <a:spcPct val="150000"/>
              </a:lnSpc>
              <a:spcBef>
                <a:spcPts val="0"/>
              </a:spcBef>
              <a:spcAft>
                <a:spcPts val="0"/>
              </a:spcAft>
              <a:buSzPct val="100000"/>
              <a:buChar char="○"/>
            </a:pPr>
            <a:r>
              <a:rPr lang="en" sz="1550"/>
              <a:t>Reviewers’ feedbacks</a:t>
            </a:r>
            <a:endParaRPr sz="1550"/>
          </a:p>
          <a:p>
            <a:pPr marL="914400" lvl="1" indent="-317182" algn="l" rtl="0">
              <a:lnSpc>
                <a:spcPct val="150000"/>
              </a:lnSpc>
              <a:spcBef>
                <a:spcPts val="0"/>
              </a:spcBef>
              <a:spcAft>
                <a:spcPts val="0"/>
              </a:spcAft>
              <a:buSzPct val="100000"/>
              <a:buChar char="○"/>
            </a:pPr>
            <a:r>
              <a:rPr lang="en" sz="1550"/>
              <a:t>AI-based reviews</a:t>
            </a:r>
            <a:endParaRPr sz="1550"/>
          </a:p>
          <a:p>
            <a:pPr marL="914400" lvl="1" indent="-317182" algn="l" rtl="0">
              <a:lnSpc>
                <a:spcPct val="150000"/>
              </a:lnSpc>
              <a:spcBef>
                <a:spcPts val="0"/>
              </a:spcBef>
              <a:spcAft>
                <a:spcPts val="0"/>
              </a:spcAft>
              <a:buSzPct val="100000"/>
              <a:buChar char="○"/>
            </a:pPr>
            <a:r>
              <a:rPr lang="en" sz="1550"/>
              <a:t>Venue-specific formatting rules (page limits, abstract length, anonymity check)</a:t>
            </a:r>
            <a:endParaRPr sz="1550"/>
          </a:p>
          <a:p>
            <a:pPr marL="914400" lvl="1" indent="-317182" algn="l" rtl="0">
              <a:lnSpc>
                <a:spcPct val="150000"/>
              </a:lnSpc>
              <a:spcBef>
                <a:spcPts val="0"/>
              </a:spcBef>
              <a:spcAft>
                <a:spcPts val="0"/>
              </a:spcAft>
              <a:buSzPct val="100000"/>
              <a:buChar char="○"/>
            </a:pPr>
            <a:r>
              <a:rPr lang="en" sz="1550"/>
              <a:t>Quality checklist</a:t>
            </a:r>
            <a:endParaRPr sz="1550"/>
          </a:p>
          <a:p>
            <a:pPr marL="0" lvl="0" indent="0" algn="l" rtl="0">
              <a:lnSpc>
                <a:spcPct val="150000"/>
              </a:lnSpc>
              <a:spcBef>
                <a:spcPts val="1200"/>
              </a:spcBef>
              <a:spcAft>
                <a:spcPts val="0"/>
              </a:spcAft>
              <a:buNone/>
            </a:pPr>
            <a:r>
              <a:rPr lang="en" sz="1550"/>
              <a:t>These tasks are disconnected, undocumented, and error-prone.</a:t>
            </a:r>
            <a:endParaRPr sz="1550"/>
          </a:p>
          <a:p>
            <a:pPr marL="0" lvl="0" indent="0" algn="l" rtl="0">
              <a:lnSpc>
                <a:spcPct val="150000"/>
              </a:lnSpc>
              <a:spcBef>
                <a:spcPts val="1200"/>
              </a:spcBef>
              <a:spcAft>
                <a:spcPts val="0"/>
              </a:spcAft>
              <a:buNone/>
            </a:pPr>
            <a:r>
              <a:rPr lang="en" sz="1550" b="1"/>
              <a:t>No Centralized Visibility or Analytics</a:t>
            </a:r>
            <a:endParaRPr sz="1550" b="1"/>
          </a:p>
          <a:p>
            <a:pPr marL="457200" lvl="0" indent="-317182" algn="l" rtl="0">
              <a:lnSpc>
                <a:spcPct val="115000"/>
              </a:lnSpc>
              <a:spcBef>
                <a:spcPts val="1200"/>
              </a:spcBef>
              <a:spcAft>
                <a:spcPts val="0"/>
              </a:spcAft>
              <a:buSzPct val="100000"/>
              <a:buChar char="●"/>
            </a:pPr>
            <a:r>
              <a:rPr lang="en" sz="1550"/>
              <a:t>No insight into: reviewer timeliness, workload distribution, and papers previously reviewed by each reviewer.</a:t>
            </a:r>
            <a:endParaRPr sz="1550"/>
          </a:p>
          <a:p>
            <a:pPr marL="0" lvl="0" indent="0" algn="l" rtl="0">
              <a:lnSpc>
                <a:spcPct val="150000"/>
              </a:lnSpc>
              <a:spcBef>
                <a:spcPts val="1200"/>
              </a:spcBef>
              <a:spcAft>
                <a:spcPts val="0"/>
              </a:spcAft>
              <a:buNone/>
            </a:pPr>
            <a:endParaRPr sz="1550" b="1"/>
          </a:p>
          <a:p>
            <a:pPr marL="457200" lvl="0" indent="0" algn="l" rtl="0">
              <a:lnSpc>
                <a:spcPct val="115000"/>
              </a:lnSpc>
              <a:spcBef>
                <a:spcPts val="1200"/>
              </a:spcBef>
              <a:spcAft>
                <a:spcPts val="0"/>
              </a:spcAft>
              <a:buNone/>
            </a:pPr>
            <a:endParaRPr sz="1550"/>
          </a:p>
          <a:p>
            <a:pPr marL="0" lvl="0" indent="0" algn="l" rtl="0">
              <a:lnSpc>
                <a:spcPct val="100000"/>
              </a:lnSpc>
              <a:spcBef>
                <a:spcPts val="1200"/>
              </a:spcBef>
              <a:spcAft>
                <a:spcPts val="0"/>
              </a:spcAft>
              <a:buSzPct val="111111"/>
              <a:buNone/>
            </a:pPr>
            <a:endParaRPr/>
          </a:p>
        </p:txBody>
      </p:sp>
      <p:pic>
        <p:nvPicPr>
          <p:cNvPr id="173" name="Google Shape;173;g3c2aa66756c_0_53"/>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174" name="Google Shape;174;g3c2aa66756c_0_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13</a:t>
            </a:fld>
            <a:endParaRPr/>
          </a:p>
        </p:txBody>
      </p:sp>
      <p:sp>
        <p:nvSpPr>
          <p:cNvPr id="175" name="Google Shape;175;g3c2aa66756c_0_53"/>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3c2aa66756c_0_6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400"/>
              </a:spcBef>
              <a:spcAft>
                <a:spcPts val="0"/>
              </a:spcAft>
              <a:buSzPct val="52520"/>
              <a:buNone/>
            </a:pPr>
            <a:r>
              <a:rPr lang="en" sz="2094" b="1">
                <a:solidFill>
                  <a:srgbClr val="00529F"/>
                </a:solidFil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7"/>
                  </a:ext>
                </a:extLst>
              </a:rPr>
              <a:t>Why Change Is Needed?</a:t>
            </a:r>
            <a:br>
              <a:rPr lang="en" sz="2094" b="1">
                <a:solidFill>
                  <a:srgbClr val="00529F"/>
                </a:solidFill>
              </a:rPr>
            </a:br>
            <a:endParaRPr sz="1594" b="1"/>
          </a:p>
          <a:p>
            <a:pPr marL="0" lvl="0" indent="0" algn="l" rtl="0">
              <a:lnSpc>
                <a:spcPct val="115000"/>
              </a:lnSpc>
              <a:spcBef>
                <a:spcPts val="400"/>
              </a:spcBef>
              <a:spcAft>
                <a:spcPts val="0"/>
              </a:spcAft>
              <a:buNone/>
            </a:pPr>
            <a:r>
              <a:rPr lang="en" sz="1594" b="1"/>
              <a:t>As BILSEN grows:</a:t>
            </a:r>
            <a:br>
              <a:rPr lang="en" sz="1594" b="1"/>
            </a:br>
            <a:endParaRPr sz="1594" b="1"/>
          </a:p>
          <a:p>
            <a:pPr marL="457200" lvl="0" indent="-319722" algn="l" rtl="0">
              <a:lnSpc>
                <a:spcPct val="115000"/>
              </a:lnSpc>
              <a:spcBef>
                <a:spcPts val="0"/>
              </a:spcBef>
              <a:spcAft>
                <a:spcPts val="0"/>
              </a:spcAft>
              <a:buSzPct val="100000"/>
              <a:buChar char="●"/>
            </a:pPr>
            <a:r>
              <a:rPr lang="en" sz="1594"/>
              <a:t>Number of papers increases</a:t>
            </a:r>
            <a:endParaRPr sz="1594"/>
          </a:p>
          <a:p>
            <a:pPr marL="457200" lvl="0" indent="-319722" algn="l" rtl="0">
              <a:lnSpc>
                <a:spcPct val="115000"/>
              </a:lnSpc>
              <a:spcBef>
                <a:spcPts val="0"/>
              </a:spcBef>
              <a:spcAft>
                <a:spcPts val="0"/>
              </a:spcAft>
              <a:buSzPct val="100000"/>
              <a:buChar char="●"/>
            </a:pPr>
            <a:r>
              <a:rPr lang="en" sz="1594"/>
              <a:t>Number of reviewers increases</a:t>
            </a:r>
            <a:endParaRPr sz="1594"/>
          </a:p>
          <a:p>
            <a:pPr marL="457200" lvl="0" indent="-319722" algn="l" rtl="0">
              <a:lnSpc>
                <a:spcPct val="115000"/>
              </a:lnSpc>
              <a:spcBef>
                <a:spcPts val="0"/>
              </a:spcBef>
              <a:spcAft>
                <a:spcPts val="0"/>
              </a:spcAft>
              <a:buSzPct val="100000"/>
              <a:buChar char="●"/>
            </a:pPr>
            <a:r>
              <a:rPr lang="en" sz="1594"/>
              <a:t>Number of review rounds increases</a:t>
            </a:r>
            <a:br>
              <a:rPr lang="en" sz="1594"/>
            </a:br>
            <a:br>
              <a:rPr lang="en" sz="1594"/>
            </a:br>
            <a:endParaRPr sz="1594" b="1"/>
          </a:p>
          <a:p>
            <a:pPr marL="0" lvl="0" indent="0" algn="l" rtl="0">
              <a:lnSpc>
                <a:spcPct val="115000"/>
              </a:lnSpc>
              <a:spcBef>
                <a:spcPts val="0"/>
              </a:spcBef>
              <a:spcAft>
                <a:spcPts val="0"/>
              </a:spcAft>
              <a:buNone/>
            </a:pPr>
            <a:r>
              <a:rPr lang="en" sz="1594" b="1"/>
              <a:t>Current process does not scale. We need a system that:</a:t>
            </a:r>
            <a:br>
              <a:rPr lang="en" sz="1594" b="1"/>
            </a:br>
            <a:endParaRPr sz="1594" b="1"/>
          </a:p>
          <a:p>
            <a:pPr marL="457200" lvl="0" indent="-319722" algn="l" rtl="0">
              <a:lnSpc>
                <a:spcPct val="115000"/>
              </a:lnSpc>
              <a:spcBef>
                <a:spcPts val="0"/>
              </a:spcBef>
              <a:spcAft>
                <a:spcPts val="0"/>
              </a:spcAft>
              <a:buSzPct val="100000"/>
              <a:buChar char="●"/>
            </a:pPr>
            <a:r>
              <a:rPr lang="en" sz="1594"/>
              <a:t>Reduces coordination overhead</a:t>
            </a:r>
            <a:endParaRPr sz="1594"/>
          </a:p>
          <a:p>
            <a:pPr marL="457200" lvl="0" indent="-319722" algn="l" rtl="0">
              <a:lnSpc>
                <a:spcPct val="115000"/>
              </a:lnSpc>
              <a:spcBef>
                <a:spcPts val="0"/>
              </a:spcBef>
              <a:spcAft>
                <a:spcPts val="0"/>
              </a:spcAft>
              <a:buSzPct val="100000"/>
              <a:buChar char="●"/>
            </a:pPr>
            <a:r>
              <a:rPr lang="en" sz="1594"/>
              <a:t>Improves consistency and traceability</a:t>
            </a:r>
            <a:endParaRPr sz="1594"/>
          </a:p>
          <a:p>
            <a:pPr marL="457200" lvl="0" indent="-319722" algn="l" rtl="0">
              <a:lnSpc>
                <a:spcPct val="115000"/>
              </a:lnSpc>
              <a:spcBef>
                <a:spcPts val="0"/>
              </a:spcBef>
              <a:spcAft>
                <a:spcPts val="0"/>
              </a:spcAft>
              <a:buSzPct val="100000"/>
              <a:buChar char="●"/>
            </a:pPr>
            <a:r>
              <a:rPr lang="en" sz="1594"/>
              <a:t>Enables analytics and long-term improvement</a:t>
            </a:r>
            <a:endParaRPr sz="1594"/>
          </a:p>
          <a:p>
            <a:pPr marL="457200" lvl="0" indent="-319722" algn="l" rtl="0">
              <a:lnSpc>
                <a:spcPct val="115000"/>
              </a:lnSpc>
              <a:spcBef>
                <a:spcPts val="0"/>
              </a:spcBef>
              <a:spcAft>
                <a:spcPts val="0"/>
              </a:spcAft>
              <a:buSzPct val="100000"/>
              <a:buChar char="●"/>
            </a:pPr>
            <a:r>
              <a:rPr lang="en" sz="1594"/>
              <a:t>Preserves academic rigor and human control</a:t>
            </a:r>
            <a:endParaRPr sz="1594"/>
          </a:p>
          <a:p>
            <a:pPr marL="0" lvl="0" indent="0" algn="l" rtl="0">
              <a:lnSpc>
                <a:spcPct val="150000"/>
              </a:lnSpc>
              <a:spcBef>
                <a:spcPts val="1200"/>
              </a:spcBef>
              <a:spcAft>
                <a:spcPts val="0"/>
              </a:spcAft>
              <a:buNone/>
            </a:pPr>
            <a:endParaRPr sz="1550" b="1"/>
          </a:p>
          <a:p>
            <a:pPr marL="457200" lvl="0" indent="0" algn="l" rtl="0">
              <a:lnSpc>
                <a:spcPct val="115000"/>
              </a:lnSpc>
              <a:spcBef>
                <a:spcPts val="1200"/>
              </a:spcBef>
              <a:spcAft>
                <a:spcPts val="0"/>
              </a:spcAft>
              <a:buNone/>
            </a:pPr>
            <a:endParaRPr sz="1550"/>
          </a:p>
          <a:p>
            <a:pPr marL="0" lvl="0" indent="0" algn="l" rtl="0">
              <a:lnSpc>
                <a:spcPct val="100000"/>
              </a:lnSpc>
              <a:spcBef>
                <a:spcPts val="1200"/>
              </a:spcBef>
              <a:spcAft>
                <a:spcPts val="0"/>
              </a:spcAft>
              <a:buSzPct val="111111"/>
              <a:buNone/>
            </a:pPr>
            <a:endParaRPr/>
          </a:p>
        </p:txBody>
      </p:sp>
      <p:pic>
        <p:nvPicPr>
          <p:cNvPr id="181" name="Google Shape;181;g3c2aa66756c_0_61"/>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182" name="Google Shape;182;g3c2aa66756c_0_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14</a:t>
            </a:fld>
            <a:endParaRPr/>
          </a:p>
        </p:txBody>
      </p:sp>
      <p:sp>
        <p:nvSpPr>
          <p:cNvPr id="183" name="Google Shape;183;g3c2aa66756c_0_61"/>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g3c2aa66756c_0_71"/>
          <p:cNvSpPr txBox="1">
            <a:spLocks noGrp="1"/>
          </p:cNvSpPr>
          <p:nvPr>
            <p:ph type="title"/>
          </p:nvPr>
        </p:nvSpPr>
        <p:spPr>
          <a:xfrm>
            <a:off x="311700" y="445025"/>
            <a:ext cx="8520600" cy="4502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400"/>
              </a:spcBef>
              <a:spcAft>
                <a:spcPts val="0"/>
              </a:spcAft>
              <a:buSzPct val="52520"/>
              <a:buNone/>
            </a:pPr>
            <a:r>
              <a:rPr lang="en" sz="2094" b="1">
                <a:solidFill>
                  <a:srgbClr val="00529F"/>
                </a:solidFill>
              </a:rPr>
              <a:t>“To-Be” Automated Bilsen Review Process</a:t>
            </a:r>
            <a:br>
              <a:rPr lang="en" sz="2094" b="1">
                <a:solidFill>
                  <a:srgbClr val="00529F"/>
                </a:solidFill>
              </a:rPr>
            </a:br>
            <a:endParaRPr sz="1594" b="1"/>
          </a:p>
          <a:p>
            <a:pPr marL="0" lvl="0" indent="0" algn="l" rtl="0">
              <a:lnSpc>
                <a:spcPct val="115000"/>
              </a:lnSpc>
              <a:spcBef>
                <a:spcPts val="400"/>
              </a:spcBef>
              <a:spcAft>
                <a:spcPts val="0"/>
              </a:spcAft>
              <a:buNone/>
            </a:pPr>
            <a:r>
              <a:rPr lang="en" sz="1594" b="1"/>
              <a:t>Automated Pre-Check &amp; Compliance Validation</a:t>
            </a:r>
            <a:br>
              <a:rPr lang="en" sz="1594" b="1"/>
            </a:br>
            <a:br>
              <a:rPr lang="en" sz="1594" b="1"/>
            </a:br>
            <a:r>
              <a:rPr lang="en" sz="1594"/>
              <a:t>Based on the selected venue and track, the system should automatically verify compliance with:</a:t>
            </a:r>
            <a:endParaRPr sz="1594"/>
          </a:p>
          <a:p>
            <a:pPr marL="0" lvl="0" indent="0" algn="l" rtl="0">
              <a:lnSpc>
                <a:spcPct val="115000"/>
              </a:lnSpc>
              <a:spcBef>
                <a:spcPts val="0"/>
              </a:spcBef>
              <a:spcAft>
                <a:spcPts val="0"/>
              </a:spcAft>
              <a:buNone/>
            </a:pPr>
            <a:endParaRPr sz="1594"/>
          </a:p>
          <a:p>
            <a:pPr marL="457200" lvl="0" indent="-319722" algn="l" rtl="0">
              <a:lnSpc>
                <a:spcPct val="115000"/>
              </a:lnSpc>
              <a:spcBef>
                <a:spcPts val="0"/>
              </a:spcBef>
              <a:spcAft>
                <a:spcPts val="0"/>
              </a:spcAft>
              <a:buSzPct val="100000"/>
              <a:buChar char="●"/>
            </a:pPr>
            <a:r>
              <a:rPr lang="en" sz="1594"/>
              <a:t>Page limit</a:t>
            </a:r>
            <a:endParaRPr sz="1594"/>
          </a:p>
          <a:p>
            <a:pPr marL="457200" lvl="0" indent="-319722" algn="l" rtl="0">
              <a:lnSpc>
                <a:spcPct val="115000"/>
              </a:lnSpc>
              <a:spcBef>
                <a:spcPts val="0"/>
              </a:spcBef>
              <a:spcAft>
                <a:spcPts val="0"/>
              </a:spcAft>
              <a:buSzPct val="100000"/>
              <a:buChar char="●"/>
            </a:pPr>
            <a:r>
              <a:rPr lang="en" sz="1594"/>
              <a:t>Abstract word count</a:t>
            </a:r>
            <a:endParaRPr sz="1594"/>
          </a:p>
          <a:p>
            <a:pPr marL="457200" lvl="0" indent="-319722" algn="l" rtl="0">
              <a:lnSpc>
                <a:spcPct val="115000"/>
              </a:lnSpc>
              <a:spcBef>
                <a:spcPts val="0"/>
              </a:spcBef>
              <a:spcAft>
                <a:spcPts val="0"/>
              </a:spcAft>
              <a:buSzPct val="100000"/>
              <a:buChar char="●"/>
            </a:pPr>
            <a:r>
              <a:rPr lang="en" sz="1594"/>
              <a:t>Required sections</a:t>
            </a:r>
            <a:endParaRPr sz="1594"/>
          </a:p>
          <a:p>
            <a:pPr marL="457200" lvl="0" indent="-319722" algn="l" rtl="0">
              <a:lnSpc>
                <a:spcPct val="115000"/>
              </a:lnSpc>
              <a:spcBef>
                <a:spcPts val="0"/>
              </a:spcBef>
              <a:spcAft>
                <a:spcPts val="0"/>
              </a:spcAft>
              <a:buSzPct val="100000"/>
              <a:buChar char="●"/>
            </a:pPr>
            <a:r>
              <a:rPr lang="en" sz="1594"/>
              <a:t>Reference format</a:t>
            </a:r>
            <a:endParaRPr sz="1594"/>
          </a:p>
          <a:p>
            <a:pPr marL="457200" lvl="0" indent="-319722" algn="l" rtl="0">
              <a:lnSpc>
                <a:spcPct val="115000"/>
              </a:lnSpc>
              <a:spcBef>
                <a:spcPts val="0"/>
              </a:spcBef>
              <a:spcAft>
                <a:spcPts val="0"/>
              </a:spcAft>
              <a:buSzPct val="100000"/>
              <a:buChar char="●"/>
            </a:pPr>
            <a:r>
              <a:rPr lang="en" sz="1594"/>
              <a:t>Anonymity requirements by checking for organization and institution anonymization, ensuring PDF metadata (e.g., author and company fields) is cleared, and validating that tool or dataset links do not reveal author identities.</a:t>
            </a:r>
            <a:endParaRPr sz="1594"/>
          </a:p>
          <a:p>
            <a:pPr marL="457200" lvl="0" indent="-319722" algn="l" rtl="0">
              <a:lnSpc>
                <a:spcPct val="115000"/>
              </a:lnSpc>
              <a:spcBef>
                <a:spcPts val="0"/>
              </a:spcBef>
              <a:spcAft>
                <a:spcPts val="0"/>
              </a:spcAft>
              <a:buSzPct val="100000"/>
              <a:buChar char="●"/>
            </a:pPr>
            <a:r>
              <a:rPr lang="en" sz="1594"/>
              <a:t>Detect paper type (research, survey, etc.) and activate the appropriate checklist dynamically.</a:t>
            </a:r>
            <a:br>
              <a:rPr lang="en" sz="1594"/>
            </a:br>
            <a:endParaRPr sz="1550" b="1"/>
          </a:p>
          <a:p>
            <a:pPr marL="457200" lvl="0" indent="0" algn="l" rtl="0">
              <a:lnSpc>
                <a:spcPct val="115000"/>
              </a:lnSpc>
              <a:spcBef>
                <a:spcPts val="1200"/>
              </a:spcBef>
              <a:spcAft>
                <a:spcPts val="0"/>
              </a:spcAft>
              <a:buNone/>
            </a:pPr>
            <a:endParaRPr sz="1550"/>
          </a:p>
          <a:p>
            <a:pPr marL="0" lvl="0" indent="0" algn="l" rtl="0">
              <a:lnSpc>
                <a:spcPct val="100000"/>
              </a:lnSpc>
              <a:spcBef>
                <a:spcPts val="1200"/>
              </a:spcBef>
              <a:spcAft>
                <a:spcPts val="0"/>
              </a:spcAft>
              <a:buSzPct val="111111"/>
              <a:buNone/>
            </a:pPr>
            <a:endParaRPr/>
          </a:p>
        </p:txBody>
      </p:sp>
      <p:pic>
        <p:nvPicPr>
          <p:cNvPr id="189" name="Google Shape;189;g3c2aa66756c_0_71"/>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190" name="Google Shape;190;g3c2aa66756c_0_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15</a:t>
            </a:fld>
            <a:endParaRPr/>
          </a:p>
        </p:txBody>
      </p:sp>
      <p:sp>
        <p:nvSpPr>
          <p:cNvPr id="191" name="Google Shape;191;g3c2aa66756c_0_71"/>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3c2aa66756c_0_77"/>
          <p:cNvSpPr txBox="1">
            <a:spLocks noGrp="1"/>
          </p:cNvSpPr>
          <p:nvPr>
            <p:ph type="title"/>
          </p:nvPr>
        </p:nvSpPr>
        <p:spPr>
          <a:xfrm>
            <a:off x="311700" y="445025"/>
            <a:ext cx="8598300" cy="4502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400"/>
              </a:spcBef>
              <a:spcAft>
                <a:spcPts val="0"/>
              </a:spcAft>
              <a:buSzPct val="52520"/>
              <a:buNone/>
            </a:pPr>
            <a:r>
              <a:rPr lang="en" sz="2094" b="1">
                <a:solidFill>
                  <a:srgbClr val="00529F"/>
                </a:solidFill>
              </a:rPr>
              <a:t>“To-Be” Automated Bilsen Review Process</a:t>
            </a:r>
            <a:br>
              <a:rPr lang="en" sz="2094" b="1">
                <a:solidFill>
                  <a:srgbClr val="00529F"/>
                </a:solidFill>
              </a:rPr>
            </a:br>
            <a:endParaRPr sz="1594" b="1"/>
          </a:p>
          <a:p>
            <a:pPr marL="0" lvl="0" indent="0" algn="l" rtl="0">
              <a:lnSpc>
                <a:spcPct val="115000"/>
              </a:lnSpc>
              <a:spcBef>
                <a:spcPts val="400"/>
              </a:spcBef>
              <a:spcAft>
                <a:spcPts val="0"/>
              </a:spcAft>
              <a:buNone/>
            </a:pPr>
            <a:r>
              <a:rPr lang="en" sz="1594" b="1"/>
              <a:t>Reviewer Assignment &amp; Workload Balancing</a:t>
            </a:r>
            <a:endParaRPr sz="1594"/>
          </a:p>
          <a:p>
            <a:pPr marL="457200" lvl="0" indent="-319722" algn="l" rtl="0">
              <a:lnSpc>
                <a:spcPct val="115000"/>
              </a:lnSpc>
              <a:spcBef>
                <a:spcPts val="0"/>
              </a:spcBef>
              <a:spcAft>
                <a:spcPts val="0"/>
              </a:spcAft>
              <a:buSzPct val="100000"/>
              <a:buChar char="●"/>
            </a:pPr>
            <a:r>
              <a:rPr lang="en" sz="1594"/>
              <a:t>Coordinator selects reviewers &amp; deadline</a:t>
            </a:r>
            <a:endParaRPr sz="1594"/>
          </a:p>
          <a:p>
            <a:pPr marL="457200" lvl="0" indent="0" algn="l" rtl="0">
              <a:lnSpc>
                <a:spcPct val="115000"/>
              </a:lnSpc>
              <a:spcBef>
                <a:spcPts val="0"/>
              </a:spcBef>
              <a:spcAft>
                <a:spcPts val="0"/>
              </a:spcAft>
              <a:buNone/>
            </a:pPr>
            <a:endParaRPr sz="1594"/>
          </a:p>
          <a:p>
            <a:pPr marL="0" lvl="0" indent="0" algn="l" rtl="0">
              <a:lnSpc>
                <a:spcPct val="115000"/>
              </a:lnSpc>
              <a:spcBef>
                <a:spcPts val="0"/>
              </a:spcBef>
              <a:spcAft>
                <a:spcPts val="0"/>
              </a:spcAft>
              <a:buNone/>
            </a:pPr>
            <a:r>
              <a:rPr lang="en" sz="1594"/>
              <a:t>System:</a:t>
            </a:r>
            <a:endParaRPr sz="1594"/>
          </a:p>
          <a:p>
            <a:pPr marL="457200" lvl="0" indent="-319722" algn="l" rtl="0">
              <a:lnSpc>
                <a:spcPct val="115000"/>
              </a:lnSpc>
              <a:spcBef>
                <a:spcPts val="0"/>
              </a:spcBef>
              <a:spcAft>
                <a:spcPts val="0"/>
              </a:spcAft>
              <a:buSzPct val="100000"/>
              <a:buChar char="●"/>
            </a:pPr>
            <a:r>
              <a:rPr lang="en" sz="1594"/>
              <a:t>Automatically notifies reviewers by email.</a:t>
            </a:r>
            <a:endParaRPr sz="1594"/>
          </a:p>
          <a:p>
            <a:pPr marL="457200" lvl="0" indent="-319722" algn="l" rtl="0">
              <a:lnSpc>
                <a:spcPct val="115000"/>
              </a:lnSpc>
              <a:spcBef>
                <a:spcPts val="0"/>
              </a:spcBef>
              <a:spcAft>
                <a:spcPts val="0"/>
              </a:spcAft>
              <a:buSzPct val="100000"/>
              <a:buChar char="●"/>
            </a:pPr>
            <a:r>
              <a:rPr lang="en" sz="1594"/>
              <a:t>Tracks the assigned reviews per reviewer.</a:t>
            </a:r>
            <a:endParaRPr sz="1594"/>
          </a:p>
          <a:p>
            <a:pPr marL="457200" lvl="0" indent="-319722" algn="l" rtl="0">
              <a:lnSpc>
                <a:spcPct val="115000"/>
              </a:lnSpc>
              <a:spcBef>
                <a:spcPts val="0"/>
              </a:spcBef>
              <a:spcAft>
                <a:spcPts val="0"/>
              </a:spcAft>
              <a:buSzPct val="100000"/>
              <a:buChar char="●"/>
            </a:pPr>
            <a:r>
              <a:rPr lang="en" sz="1594"/>
              <a:t>Enable reviewers to accept or decline review assignments (by providing a valid reason) or request deadline extensions.</a:t>
            </a:r>
            <a:endParaRPr sz="1594"/>
          </a:p>
          <a:p>
            <a:pPr marL="457200" lvl="0" indent="0" algn="l" rtl="0">
              <a:lnSpc>
                <a:spcPct val="115000"/>
              </a:lnSpc>
              <a:spcBef>
                <a:spcPts val="0"/>
              </a:spcBef>
              <a:spcAft>
                <a:spcPts val="0"/>
              </a:spcAft>
              <a:buNone/>
            </a:pPr>
            <a:endParaRPr sz="1594"/>
          </a:p>
          <a:p>
            <a:pPr marL="0" lvl="0" indent="0" algn="l" rtl="0">
              <a:lnSpc>
                <a:spcPct val="115000"/>
              </a:lnSpc>
              <a:spcBef>
                <a:spcPts val="0"/>
              </a:spcBef>
              <a:spcAft>
                <a:spcPts val="0"/>
              </a:spcAft>
              <a:buNone/>
            </a:pPr>
            <a:r>
              <a:rPr lang="en" sz="1594"/>
              <a:t>Enables:</a:t>
            </a:r>
            <a:endParaRPr sz="1594"/>
          </a:p>
          <a:p>
            <a:pPr marL="457200" lvl="0" indent="-319722" algn="l" rtl="0">
              <a:lnSpc>
                <a:spcPct val="115000"/>
              </a:lnSpc>
              <a:spcBef>
                <a:spcPts val="0"/>
              </a:spcBef>
              <a:spcAft>
                <a:spcPts val="0"/>
              </a:spcAft>
              <a:buSzPct val="100000"/>
              <a:buChar char="●"/>
            </a:pPr>
            <a:r>
              <a:rPr lang="en" sz="1594"/>
              <a:t>Balanced workload distribution.</a:t>
            </a:r>
            <a:endParaRPr sz="1594"/>
          </a:p>
          <a:p>
            <a:pPr marL="457200" lvl="0" indent="-319722" algn="l" rtl="0">
              <a:lnSpc>
                <a:spcPct val="115000"/>
              </a:lnSpc>
              <a:spcBef>
                <a:spcPts val="0"/>
              </a:spcBef>
              <a:spcAft>
                <a:spcPts val="0"/>
              </a:spcAft>
              <a:buSzPct val="100000"/>
              <a:buChar char="●"/>
            </a:pPr>
            <a:r>
              <a:rPr lang="en" sz="1594"/>
              <a:t>Early detection of overload or inactivity.</a:t>
            </a:r>
            <a:endParaRPr sz="1594"/>
          </a:p>
          <a:p>
            <a:pPr marL="457200" lvl="0" indent="-319722" algn="l" rtl="0">
              <a:lnSpc>
                <a:spcPct val="115000"/>
              </a:lnSpc>
              <a:spcBef>
                <a:spcPts val="0"/>
              </a:spcBef>
              <a:spcAft>
                <a:spcPts val="0"/>
              </a:spcAft>
              <a:buSzPct val="100000"/>
              <a:buChar char="●"/>
            </a:pPr>
            <a:r>
              <a:rPr lang="en" sz="1594"/>
              <a:t>Reviewer selection in future review rounds of a paper.</a:t>
            </a:r>
            <a:br>
              <a:rPr lang="en" sz="1594"/>
            </a:br>
            <a:endParaRPr sz="1594" b="1"/>
          </a:p>
          <a:p>
            <a:pPr marL="0" lvl="0" indent="0" algn="l" rtl="0">
              <a:lnSpc>
                <a:spcPct val="150000"/>
              </a:lnSpc>
              <a:spcBef>
                <a:spcPts val="1200"/>
              </a:spcBef>
              <a:spcAft>
                <a:spcPts val="0"/>
              </a:spcAft>
              <a:buNone/>
            </a:pPr>
            <a:endParaRPr sz="1550" b="1"/>
          </a:p>
          <a:p>
            <a:pPr marL="457200" lvl="0" indent="0" algn="l" rtl="0">
              <a:lnSpc>
                <a:spcPct val="115000"/>
              </a:lnSpc>
              <a:spcBef>
                <a:spcPts val="1200"/>
              </a:spcBef>
              <a:spcAft>
                <a:spcPts val="0"/>
              </a:spcAft>
              <a:buNone/>
            </a:pPr>
            <a:endParaRPr sz="1550"/>
          </a:p>
          <a:p>
            <a:pPr marL="0" lvl="0" indent="0" algn="l" rtl="0">
              <a:lnSpc>
                <a:spcPct val="100000"/>
              </a:lnSpc>
              <a:spcBef>
                <a:spcPts val="1200"/>
              </a:spcBef>
              <a:spcAft>
                <a:spcPts val="0"/>
              </a:spcAft>
              <a:buSzPct val="111111"/>
              <a:buNone/>
            </a:pPr>
            <a:endParaRPr/>
          </a:p>
        </p:txBody>
      </p:sp>
      <p:pic>
        <p:nvPicPr>
          <p:cNvPr id="197" name="Google Shape;197;g3c2aa66756c_0_77"/>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198" name="Google Shape;198;g3c2aa66756c_0_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16</a:t>
            </a:fld>
            <a:endParaRPr/>
          </a:p>
        </p:txBody>
      </p:sp>
      <p:sp>
        <p:nvSpPr>
          <p:cNvPr id="199" name="Google Shape;199;g3c2aa66756c_0_77"/>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g3c2aa66756c_0_8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400"/>
              </a:spcBef>
              <a:spcAft>
                <a:spcPts val="0"/>
              </a:spcAft>
              <a:buSzPct val="52520"/>
              <a:buNone/>
            </a:pPr>
            <a:r>
              <a:rPr lang="en" sz="2094" b="1">
                <a:solidFill>
                  <a:srgbClr val="00529F"/>
                </a:solidFill>
              </a:rPr>
              <a:t>“To-Be” Automated Bilsen Review Process</a:t>
            </a:r>
            <a:br>
              <a:rPr lang="en" sz="2094" b="1">
                <a:solidFill>
                  <a:srgbClr val="00529F"/>
                </a:solidFill>
              </a:rPr>
            </a:br>
            <a:endParaRPr sz="1594" b="1"/>
          </a:p>
          <a:p>
            <a:pPr marL="0" lvl="0" indent="0" algn="l" rtl="0">
              <a:lnSpc>
                <a:spcPct val="115000"/>
              </a:lnSpc>
              <a:spcBef>
                <a:spcPts val="400"/>
              </a:spcBef>
              <a:spcAft>
                <a:spcPts val="0"/>
              </a:spcAft>
              <a:buNone/>
            </a:pPr>
            <a:r>
              <a:rPr lang="en" sz="1594" b="1"/>
              <a:t>Automated Coordination &amp; Deadline Management</a:t>
            </a:r>
            <a:endParaRPr sz="1594"/>
          </a:p>
          <a:p>
            <a:pPr marL="0" lvl="0" indent="0" algn="l" rtl="0">
              <a:lnSpc>
                <a:spcPct val="115000"/>
              </a:lnSpc>
              <a:spcBef>
                <a:spcPts val="0"/>
              </a:spcBef>
              <a:spcAft>
                <a:spcPts val="0"/>
              </a:spcAft>
              <a:buNone/>
            </a:pPr>
            <a:endParaRPr sz="1594"/>
          </a:p>
          <a:p>
            <a:pPr marL="457200" lvl="0" indent="-319722" algn="l" rtl="0">
              <a:lnSpc>
                <a:spcPct val="115000"/>
              </a:lnSpc>
              <a:spcBef>
                <a:spcPts val="0"/>
              </a:spcBef>
              <a:spcAft>
                <a:spcPts val="0"/>
              </a:spcAft>
              <a:buSzPct val="100000"/>
              <a:buChar char="●"/>
            </a:pPr>
            <a:r>
              <a:rPr lang="en" sz="1594"/>
              <a:t>Send reminder emails to assigned reviewers as the deadline approaches.</a:t>
            </a:r>
            <a:endParaRPr sz="1594"/>
          </a:p>
          <a:p>
            <a:pPr marL="0" lvl="0" indent="0" algn="l" rtl="0">
              <a:lnSpc>
                <a:spcPct val="115000"/>
              </a:lnSpc>
              <a:spcBef>
                <a:spcPts val="0"/>
              </a:spcBef>
              <a:spcAft>
                <a:spcPts val="0"/>
              </a:spcAft>
              <a:buNone/>
            </a:pPr>
            <a:endParaRPr sz="1594"/>
          </a:p>
          <a:p>
            <a:pPr marL="457200" lvl="0" indent="-319722" algn="l" rtl="0">
              <a:lnSpc>
                <a:spcPct val="115000"/>
              </a:lnSpc>
              <a:spcBef>
                <a:spcPts val="0"/>
              </a:spcBef>
              <a:spcAft>
                <a:spcPts val="0"/>
              </a:spcAft>
              <a:buSzPct val="100000"/>
              <a:buChar char="●"/>
            </a:pPr>
            <a:r>
              <a:rPr lang="en" sz="1594"/>
              <a:t>Alerts to coordinator when deadlines are missed.</a:t>
            </a:r>
            <a:endParaRPr sz="1594"/>
          </a:p>
          <a:p>
            <a:pPr marL="457200" lvl="0" indent="0" algn="l" rtl="0">
              <a:lnSpc>
                <a:spcPct val="115000"/>
              </a:lnSpc>
              <a:spcBef>
                <a:spcPts val="0"/>
              </a:spcBef>
              <a:spcAft>
                <a:spcPts val="0"/>
              </a:spcAft>
              <a:buNone/>
            </a:pPr>
            <a:endParaRPr sz="1594"/>
          </a:p>
          <a:p>
            <a:pPr marL="0" lvl="0" indent="0" algn="l" rtl="0">
              <a:lnSpc>
                <a:spcPct val="115000"/>
              </a:lnSpc>
              <a:spcBef>
                <a:spcPts val="0"/>
              </a:spcBef>
              <a:spcAft>
                <a:spcPts val="0"/>
              </a:spcAft>
              <a:buNone/>
            </a:pPr>
            <a:r>
              <a:rPr lang="en" sz="1594"/>
              <a:t>Reduces:</a:t>
            </a:r>
            <a:endParaRPr sz="1594"/>
          </a:p>
          <a:p>
            <a:pPr marL="0" lvl="0" indent="0" algn="l" rtl="0">
              <a:lnSpc>
                <a:spcPct val="115000"/>
              </a:lnSpc>
              <a:spcBef>
                <a:spcPts val="0"/>
              </a:spcBef>
              <a:spcAft>
                <a:spcPts val="0"/>
              </a:spcAft>
              <a:buNone/>
            </a:pPr>
            <a:endParaRPr sz="1594"/>
          </a:p>
          <a:p>
            <a:pPr marL="457200" lvl="0" indent="-319722" algn="l" rtl="0">
              <a:lnSpc>
                <a:spcPct val="115000"/>
              </a:lnSpc>
              <a:spcBef>
                <a:spcPts val="0"/>
              </a:spcBef>
              <a:spcAft>
                <a:spcPts val="0"/>
              </a:spcAft>
              <a:buSzPct val="100000"/>
              <a:buChar char="●"/>
            </a:pPr>
            <a:r>
              <a:rPr lang="en" sz="1594"/>
              <a:t>Manual follow-ups.</a:t>
            </a:r>
            <a:endParaRPr sz="1594"/>
          </a:p>
          <a:p>
            <a:pPr marL="0" lvl="0" indent="0" algn="l" rtl="0">
              <a:lnSpc>
                <a:spcPct val="115000"/>
              </a:lnSpc>
              <a:spcBef>
                <a:spcPts val="0"/>
              </a:spcBef>
              <a:spcAft>
                <a:spcPts val="0"/>
              </a:spcAft>
              <a:buNone/>
            </a:pPr>
            <a:endParaRPr sz="1594"/>
          </a:p>
          <a:p>
            <a:pPr marL="457200" lvl="0" indent="-319722" algn="l" rtl="0">
              <a:lnSpc>
                <a:spcPct val="115000"/>
              </a:lnSpc>
              <a:spcBef>
                <a:spcPts val="0"/>
              </a:spcBef>
              <a:spcAft>
                <a:spcPts val="0"/>
              </a:spcAft>
              <a:buSzPct val="100000"/>
              <a:buChar char="●"/>
            </a:pPr>
            <a:r>
              <a:rPr lang="en" sz="1594"/>
              <a:t>Missed or overdue submissions.</a:t>
            </a:r>
            <a:br>
              <a:rPr lang="en" sz="1594"/>
            </a:br>
            <a:br>
              <a:rPr lang="en" sz="1594"/>
            </a:br>
            <a:endParaRPr sz="1594" b="1"/>
          </a:p>
          <a:p>
            <a:pPr marL="0" lvl="0" indent="0" algn="l" rtl="0">
              <a:lnSpc>
                <a:spcPct val="150000"/>
              </a:lnSpc>
              <a:spcBef>
                <a:spcPts val="1200"/>
              </a:spcBef>
              <a:spcAft>
                <a:spcPts val="0"/>
              </a:spcAft>
              <a:buNone/>
            </a:pPr>
            <a:endParaRPr sz="1550" b="1"/>
          </a:p>
          <a:p>
            <a:pPr marL="457200" lvl="0" indent="0" algn="l" rtl="0">
              <a:lnSpc>
                <a:spcPct val="115000"/>
              </a:lnSpc>
              <a:spcBef>
                <a:spcPts val="1200"/>
              </a:spcBef>
              <a:spcAft>
                <a:spcPts val="0"/>
              </a:spcAft>
              <a:buNone/>
            </a:pPr>
            <a:endParaRPr sz="1550"/>
          </a:p>
          <a:p>
            <a:pPr marL="0" lvl="0" indent="0" algn="l" rtl="0">
              <a:lnSpc>
                <a:spcPct val="100000"/>
              </a:lnSpc>
              <a:spcBef>
                <a:spcPts val="1200"/>
              </a:spcBef>
              <a:spcAft>
                <a:spcPts val="0"/>
              </a:spcAft>
              <a:buSzPct val="111111"/>
              <a:buNone/>
            </a:pPr>
            <a:endParaRPr/>
          </a:p>
        </p:txBody>
      </p:sp>
      <p:pic>
        <p:nvPicPr>
          <p:cNvPr id="205" name="Google Shape;205;g3c2aa66756c_0_82"/>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206" name="Google Shape;206;g3c2aa66756c_0_8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17</a:t>
            </a:fld>
            <a:endParaRPr/>
          </a:p>
        </p:txBody>
      </p:sp>
      <p:sp>
        <p:nvSpPr>
          <p:cNvPr id="207" name="Google Shape;207;g3c2aa66756c_0_82"/>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g3c2aa66756c_0_88"/>
          <p:cNvSpPr txBox="1">
            <a:spLocks noGrp="1"/>
          </p:cNvSpPr>
          <p:nvPr>
            <p:ph type="title"/>
          </p:nvPr>
        </p:nvSpPr>
        <p:spPr>
          <a:xfrm>
            <a:off x="311700" y="445025"/>
            <a:ext cx="8604900" cy="4502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400"/>
              </a:spcBef>
              <a:spcAft>
                <a:spcPts val="0"/>
              </a:spcAft>
              <a:buSzPct val="52520"/>
              <a:buNone/>
            </a:pPr>
            <a:r>
              <a:rPr lang="en" sz="2094" b="1">
                <a:solidFill>
                  <a:srgbClr val="00529F"/>
                </a:solidFill>
              </a:rPr>
              <a:t>“To-Be” Automated Bilsen Review Process</a:t>
            </a:r>
            <a:br>
              <a:rPr lang="en" sz="2094" b="1">
                <a:solidFill>
                  <a:srgbClr val="00529F"/>
                </a:solidFill>
              </a:rPr>
            </a:br>
            <a:endParaRPr sz="1594" b="1"/>
          </a:p>
          <a:p>
            <a:pPr marL="0" lvl="0" indent="0" algn="l" rtl="0">
              <a:lnSpc>
                <a:spcPct val="115000"/>
              </a:lnSpc>
              <a:spcBef>
                <a:spcPts val="400"/>
              </a:spcBef>
              <a:spcAft>
                <a:spcPts val="0"/>
              </a:spcAft>
              <a:buNone/>
            </a:pPr>
            <a:r>
              <a:rPr lang="en" sz="1594" b="1"/>
              <a:t>AI-Assisted Review Support (for Authors)</a:t>
            </a:r>
            <a:endParaRPr sz="1594"/>
          </a:p>
          <a:p>
            <a:pPr marL="0" lvl="0" indent="0" algn="l" rtl="0">
              <a:lnSpc>
                <a:spcPct val="115000"/>
              </a:lnSpc>
              <a:spcBef>
                <a:spcPts val="0"/>
              </a:spcBef>
              <a:spcAft>
                <a:spcPts val="0"/>
              </a:spcAft>
              <a:buNone/>
            </a:pPr>
            <a:endParaRPr sz="1594"/>
          </a:p>
          <a:p>
            <a:pPr marL="0" lvl="0" indent="0" algn="l" rtl="0">
              <a:lnSpc>
                <a:spcPct val="115000"/>
              </a:lnSpc>
              <a:spcBef>
                <a:spcPts val="0"/>
              </a:spcBef>
              <a:spcAft>
                <a:spcPts val="0"/>
              </a:spcAft>
              <a:buNone/>
            </a:pPr>
            <a:r>
              <a:rPr lang="en" sz="1594"/>
              <a:t>The system supports automated review generation by:</a:t>
            </a:r>
            <a:br>
              <a:rPr lang="en" sz="1594"/>
            </a:br>
            <a:endParaRPr sz="1594"/>
          </a:p>
          <a:p>
            <a:pPr marL="457200" lvl="0" indent="-319722" algn="l" rtl="0">
              <a:lnSpc>
                <a:spcPct val="115000"/>
              </a:lnSpc>
              <a:spcBef>
                <a:spcPts val="0"/>
              </a:spcBef>
              <a:spcAft>
                <a:spcPts val="0"/>
              </a:spcAft>
              <a:buSzPct val="100000"/>
              <a:buChar char="●"/>
            </a:pPr>
            <a:r>
              <a:rPr lang="en" sz="1594"/>
              <a:t>Highlighting potential issues directly in Overleaf and providing improvement suggestions as free-form comments (ideal one).</a:t>
            </a:r>
            <a:endParaRPr sz="1594"/>
          </a:p>
          <a:p>
            <a:pPr marL="457200" lvl="0" indent="-319722" algn="l" rtl="0">
              <a:lnSpc>
                <a:spcPct val="115000"/>
              </a:lnSpc>
              <a:spcBef>
                <a:spcPts val="0"/>
              </a:spcBef>
              <a:spcAft>
                <a:spcPts val="0"/>
              </a:spcAft>
              <a:buSzPct val="100000"/>
              <a:buChar char="●"/>
            </a:pPr>
            <a:r>
              <a:rPr lang="en" sz="1594"/>
              <a:t>Generating formal review reports based on predefined template.</a:t>
            </a:r>
            <a:endParaRPr sz="1594"/>
          </a:p>
          <a:p>
            <a:pPr marL="457200" lvl="0" indent="-319722" algn="l" rtl="0">
              <a:lnSpc>
                <a:spcPct val="115000"/>
              </a:lnSpc>
              <a:spcBef>
                <a:spcPts val="0"/>
              </a:spcBef>
              <a:spcAft>
                <a:spcPts val="0"/>
              </a:spcAft>
              <a:buSzPct val="100000"/>
              <a:buChar char="●"/>
            </a:pPr>
            <a:r>
              <a:rPr lang="en" sz="1594"/>
              <a:t>Producing annotated PDF documents with highlighted issues and suggested improvements.</a:t>
            </a:r>
            <a:endParaRPr sz="1594"/>
          </a:p>
          <a:p>
            <a:pPr marL="457200" lvl="0" indent="-319722" algn="l" rtl="0">
              <a:lnSpc>
                <a:spcPct val="115000"/>
              </a:lnSpc>
              <a:spcBef>
                <a:spcPts val="0"/>
              </a:spcBef>
              <a:spcAft>
                <a:spcPts val="0"/>
              </a:spcAft>
              <a:buSzPct val="100000"/>
              <a:buChar char="●"/>
            </a:pPr>
            <a:r>
              <a:rPr lang="en" sz="1594"/>
              <a:t>Performing structured, checklist-based compliance checks.</a:t>
            </a:r>
            <a:endParaRPr sz="1594"/>
          </a:p>
          <a:p>
            <a:pPr marL="457200" lvl="0" indent="0" algn="l" rtl="0">
              <a:lnSpc>
                <a:spcPct val="115000"/>
              </a:lnSpc>
              <a:spcBef>
                <a:spcPts val="0"/>
              </a:spcBef>
              <a:spcAft>
                <a:spcPts val="0"/>
              </a:spcAft>
              <a:buNone/>
            </a:pPr>
            <a:endParaRPr sz="1594"/>
          </a:p>
          <a:p>
            <a:pPr marL="0" lvl="0" indent="0" algn="l" rtl="0">
              <a:lnSpc>
                <a:spcPct val="115000"/>
              </a:lnSpc>
              <a:spcBef>
                <a:spcPts val="0"/>
              </a:spcBef>
              <a:spcAft>
                <a:spcPts val="0"/>
              </a:spcAft>
              <a:buNone/>
            </a:pPr>
            <a:r>
              <a:rPr lang="en" sz="1594"/>
              <a:t>Ensure:</a:t>
            </a:r>
            <a:endParaRPr sz="1594"/>
          </a:p>
          <a:p>
            <a:pPr marL="457200" lvl="0" indent="-319722" algn="l" rtl="0">
              <a:lnSpc>
                <a:spcPct val="115000"/>
              </a:lnSpc>
              <a:spcBef>
                <a:spcPts val="0"/>
              </a:spcBef>
              <a:spcAft>
                <a:spcPts val="0"/>
              </a:spcAft>
              <a:buSzPct val="100000"/>
              <a:buChar char="●"/>
            </a:pPr>
            <a:r>
              <a:rPr lang="en" sz="1594"/>
              <a:t>No hallucinated references</a:t>
            </a:r>
            <a:endParaRPr sz="1594"/>
          </a:p>
          <a:p>
            <a:pPr marL="457200" lvl="0" indent="-319722" algn="l" rtl="0">
              <a:lnSpc>
                <a:spcPct val="115000"/>
              </a:lnSpc>
              <a:spcBef>
                <a:spcPts val="0"/>
              </a:spcBef>
              <a:spcAft>
                <a:spcPts val="0"/>
              </a:spcAft>
              <a:buSzPct val="100000"/>
              <a:buChar char="●"/>
            </a:pPr>
            <a:r>
              <a:rPr lang="en" sz="1594"/>
              <a:t>No unsupported claims</a:t>
            </a:r>
            <a:br>
              <a:rPr lang="en" sz="1594"/>
            </a:br>
            <a:br>
              <a:rPr lang="en" sz="1594"/>
            </a:br>
            <a:endParaRPr sz="1594" b="1"/>
          </a:p>
          <a:p>
            <a:pPr marL="0" lvl="0" indent="0" algn="l" rtl="0">
              <a:lnSpc>
                <a:spcPct val="150000"/>
              </a:lnSpc>
              <a:spcBef>
                <a:spcPts val="1200"/>
              </a:spcBef>
              <a:spcAft>
                <a:spcPts val="0"/>
              </a:spcAft>
              <a:buNone/>
            </a:pPr>
            <a:endParaRPr sz="1550" b="1"/>
          </a:p>
          <a:p>
            <a:pPr marL="457200" lvl="0" indent="0" algn="l" rtl="0">
              <a:lnSpc>
                <a:spcPct val="115000"/>
              </a:lnSpc>
              <a:spcBef>
                <a:spcPts val="1200"/>
              </a:spcBef>
              <a:spcAft>
                <a:spcPts val="0"/>
              </a:spcAft>
              <a:buNone/>
            </a:pPr>
            <a:endParaRPr sz="1550"/>
          </a:p>
          <a:p>
            <a:pPr marL="0" lvl="0" indent="0" algn="l" rtl="0">
              <a:lnSpc>
                <a:spcPct val="100000"/>
              </a:lnSpc>
              <a:spcBef>
                <a:spcPts val="1200"/>
              </a:spcBef>
              <a:spcAft>
                <a:spcPts val="0"/>
              </a:spcAft>
              <a:buSzPct val="111111"/>
              <a:buNone/>
            </a:pPr>
            <a:endParaRPr/>
          </a:p>
        </p:txBody>
      </p:sp>
      <p:pic>
        <p:nvPicPr>
          <p:cNvPr id="213" name="Google Shape;213;g3c2aa66756c_0_88"/>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214" name="Google Shape;214;g3c2aa66756c_0_8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18</a:t>
            </a:fld>
            <a:endParaRPr/>
          </a:p>
        </p:txBody>
      </p:sp>
      <p:sp>
        <p:nvSpPr>
          <p:cNvPr id="215" name="Google Shape;215;g3c2aa66756c_0_88"/>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g3c2aa66756c_0_9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400"/>
              </a:spcBef>
              <a:spcAft>
                <a:spcPts val="0"/>
              </a:spcAft>
              <a:buSzPct val="52520"/>
              <a:buNone/>
            </a:pPr>
            <a:r>
              <a:rPr lang="en" sz="2094" b="1">
                <a:solidFill>
                  <a:srgbClr val="00529F"/>
                </a:solidFill>
              </a:rPr>
              <a:t>“To-Be” Automated Bilsen Review Process</a:t>
            </a:r>
            <a:br>
              <a:rPr lang="en" sz="2094" b="1">
                <a:solidFill>
                  <a:srgbClr val="00529F"/>
                </a:solidFill>
              </a:rPr>
            </a:br>
            <a:endParaRPr sz="1594" b="1"/>
          </a:p>
          <a:p>
            <a:pPr marL="0" lvl="0" indent="0" algn="l" rtl="0">
              <a:lnSpc>
                <a:spcPct val="115000"/>
              </a:lnSpc>
              <a:spcBef>
                <a:spcPts val="400"/>
              </a:spcBef>
              <a:spcAft>
                <a:spcPts val="0"/>
              </a:spcAft>
              <a:buNone/>
            </a:pPr>
            <a:r>
              <a:rPr lang="en" sz="1594" b="1"/>
              <a:t>Reviewer Evaluation Mechanism</a:t>
            </a:r>
            <a:endParaRPr sz="1594"/>
          </a:p>
          <a:p>
            <a:pPr marL="0" lvl="0" indent="0" algn="l" rtl="0">
              <a:lnSpc>
                <a:spcPct val="115000"/>
              </a:lnSpc>
              <a:spcBef>
                <a:spcPts val="0"/>
              </a:spcBef>
              <a:spcAft>
                <a:spcPts val="0"/>
              </a:spcAft>
              <a:buNone/>
            </a:pPr>
            <a:endParaRPr sz="1594"/>
          </a:p>
          <a:p>
            <a:pPr marL="0" lvl="0" indent="0" algn="l" rtl="0">
              <a:lnSpc>
                <a:spcPct val="115000"/>
              </a:lnSpc>
              <a:spcBef>
                <a:spcPts val="0"/>
              </a:spcBef>
              <a:spcAft>
                <a:spcPts val="0"/>
              </a:spcAft>
              <a:buNone/>
            </a:pPr>
            <a:r>
              <a:rPr lang="en" sz="1594"/>
              <a:t>After review completion, authors rate reviewers on:</a:t>
            </a:r>
            <a:endParaRPr sz="1594"/>
          </a:p>
          <a:p>
            <a:pPr marL="457200" lvl="0" indent="0" algn="l" rtl="0">
              <a:lnSpc>
                <a:spcPct val="115000"/>
              </a:lnSpc>
              <a:spcBef>
                <a:spcPts val="0"/>
              </a:spcBef>
              <a:spcAft>
                <a:spcPts val="0"/>
              </a:spcAft>
              <a:buNone/>
            </a:pPr>
            <a:endParaRPr sz="1594"/>
          </a:p>
          <a:p>
            <a:pPr marL="457200" lvl="0" indent="-319722" algn="l" rtl="0">
              <a:lnSpc>
                <a:spcPct val="115000"/>
              </a:lnSpc>
              <a:spcBef>
                <a:spcPts val="0"/>
              </a:spcBef>
              <a:spcAft>
                <a:spcPts val="0"/>
              </a:spcAft>
              <a:buSzPct val="100000"/>
              <a:buChar char="●"/>
            </a:pPr>
            <a:r>
              <a:rPr lang="en" sz="1594"/>
              <a:t>Quality of comments</a:t>
            </a:r>
            <a:endParaRPr sz="1594"/>
          </a:p>
          <a:p>
            <a:pPr marL="457200" lvl="0" indent="-319722" algn="l" rtl="0">
              <a:lnSpc>
                <a:spcPct val="115000"/>
              </a:lnSpc>
              <a:spcBef>
                <a:spcPts val="0"/>
              </a:spcBef>
              <a:spcAft>
                <a:spcPts val="0"/>
              </a:spcAft>
              <a:buSzPct val="100000"/>
              <a:buChar char="●"/>
            </a:pPr>
            <a:r>
              <a:rPr lang="en" sz="1594"/>
              <a:t>Quantity of feedbacks</a:t>
            </a:r>
            <a:endParaRPr sz="1594"/>
          </a:p>
          <a:p>
            <a:pPr marL="457200" lvl="0" indent="-319722" algn="l" rtl="0">
              <a:lnSpc>
                <a:spcPct val="115000"/>
              </a:lnSpc>
              <a:spcBef>
                <a:spcPts val="0"/>
              </a:spcBef>
              <a:spcAft>
                <a:spcPts val="0"/>
              </a:spcAft>
              <a:buSzPct val="100000"/>
              <a:buChar char="●"/>
            </a:pPr>
            <a:r>
              <a:rPr lang="en" sz="1594"/>
              <a:t>Timeliness</a:t>
            </a:r>
            <a:endParaRPr sz="1594"/>
          </a:p>
          <a:p>
            <a:pPr marL="0" lvl="0" indent="0" algn="l" rtl="0">
              <a:lnSpc>
                <a:spcPct val="115000"/>
              </a:lnSpc>
              <a:spcBef>
                <a:spcPts val="0"/>
              </a:spcBef>
              <a:spcAft>
                <a:spcPts val="0"/>
              </a:spcAft>
              <a:buNone/>
            </a:pPr>
            <a:endParaRPr sz="1594"/>
          </a:p>
          <a:p>
            <a:pPr marL="0" lvl="0" indent="0" algn="l" rtl="0">
              <a:lnSpc>
                <a:spcPct val="115000"/>
              </a:lnSpc>
              <a:spcBef>
                <a:spcPts val="0"/>
              </a:spcBef>
              <a:spcAft>
                <a:spcPts val="0"/>
              </a:spcAft>
              <a:buNone/>
            </a:pPr>
            <a:r>
              <a:rPr lang="en" sz="1594"/>
              <a:t>Ratings contribute to:</a:t>
            </a:r>
            <a:endParaRPr sz="1594"/>
          </a:p>
          <a:p>
            <a:pPr marL="457200" lvl="0" indent="0" algn="l" rtl="0">
              <a:lnSpc>
                <a:spcPct val="115000"/>
              </a:lnSpc>
              <a:spcBef>
                <a:spcPts val="0"/>
              </a:spcBef>
              <a:spcAft>
                <a:spcPts val="0"/>
              </a:spcAft>
              <a:buNone/>
            </a:pPr>
            <a:endParaRPr sz="1594"/>
          </a:p>
          <a:p>
            <a:pPr marL="457200" lvl="0" indent="-319722" algn="l" rtl="0">
              <a:lnSpc>
                <a:spcPct val="115000"/>
              </a:lnSpc>
              <a:spcBef>
                <a:spcPts val="0"/>
              </a:spcBef>
              <a:spcAft>
                <a:spcPts val="0"/>
              </a:spcAft>
              <a:buSzPct val="100000"/>
              <a:buChar char="●"/>
            </a:pPr>
            <a:r>
              <a:rPr lang="en" sz="1594"/>
              <a:t>Reviewer performance statistics</a:t>
            </a:r>
            <a:endParaRPr sz="1594"/>
          </a:p>
          <a:p>
            <a:pPr marL="457200" lvl="0" indent="-319722" algn="l" rtl="0">
              <a:lnSpc>
                <a:spcPct val="115000"/>
              </a:lnSpc>
              <a:spcBef>
                <a:spcPts val="0"/>
              </a:spcBef>
              <a:spcAft>
                <a:spcPts val="0"/>
              </a:spcAft>
              <a:buSzPct val="100000"/>
              <a:buChar char="●"/>
            </a:pPr>
            <a:r>
              <a:rPr lang="en" sz="1594"/>
              <a:t>Long-term quality monitoring</a:t>
            </a:r>
            <a:br>
              <a:rPr lang="en" sz="1594"/>
            </a:br>
            <a:br>
              <a:rPr lang="en" sz="1594"/>
            </a:br>
            <a:endParaRPr sz="1594" b="1"/>
          </a:p>
          <a:p>
            <a:pPr marL="0" lvl="0" indent="0" algn="l" rtl="0">
              <a:lnSpc>
                <a:spcPct val="150000"/>
              </a:lnSpc>
              <a:spcBef>
                <a:spcPts val="1200"/>
              </a:spcBef>
              <a:spcAft>
                <a:spcPts val="0"/>
              </a:spcAft>
              <a:buNone/>
            </a:pPr>
            <a:endParaRPr sz="1550" b="1"/>
          </a:p>
          <a:p>
            <a:pPr marL="457200" lvl="0" indent="0" algn="l" rtl="0">
              <a:lnSpc>
                <a:spcPct val="115000"/>
              </a:lnSpc>
              <a:spcBef>
                <a:spcPts val="1200"/>
              </a:spcBef>
              <a:spcAft>
                <a:spcPts val="0"/>
              </a:spcAft>
              <a:buNone/>
            </a:pPr>
            <a:endParaRPr sz="1550"/>
          </a:p>
          <a:p>
            <a:pPr marL="0" lvl="0" indent="0" algn="l" rtl="0">
              <a:lnSpc>
                <a:spcPct val="100000"/>
              </a:lnSpc>
              <a:spcBef>
                <a:spcPts val="1200"/>
              </a:spcBef>
              <a:spcAft>
                <a:spcPts val="0"/>
              </a:spcAft>
              <a:buSzPct val="111111"/>
              <a:buNone/>
            </a:pPr>
            <a:endParaRPr/>
          </a:p>
        </p:txBody>
      </p:sp>
      <p:pic>
        <p:nvPicPr>
          <p:cNvPr id="221" name="Google Shape;221;g3c2aa66756c_0_93"/>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222" name="Google Shape;222;g3c2aa66756c_0_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19</a:t>
            </a:fld>
            <a:endParaRPr/>
          </a:p>
        </p:txBody>
      </p:sp>
      <p:sp>
        <p:nvSpPr>
          <p:cNvPr id="223" name="Google Shape;223;g3c2aa66756c_0_93"/>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g3c2aa66756c_0_9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400"/>
              </a:spcBef>
              <a:spcAft>
                <a:spcPts val="0"/>
              </a:spcAft>
              <a:buSzPct val="52520"/>
              <a:buNone/>
            </a:pPr>
            <a:r>
              <a:rPr lang="en" sz="2094" b="1">
                <a:solidFill>
                  <a:srgbClr val="00529F"/>
                </a:solidFill>
              </a:rPr>
              <a:t>“To-Be” Automated Bilsen Review Process</a:t>
            </a:r>
            <a:br>
              <a:rPr lang="en" sz="2094" b="1">
                <a:solidFill>
                  <a:srgbClr val="00529F"/>
                </a:solidFill>
              </a:rPr>
            </a:br>
            <a:endParaRPr sz="1594" b="1"/>
          </a:p>
          <a:p>
            <a:pPr marL="0" lvl="0" indent="0" algn="l" rtl="0">
              <a:lnSpc>
                <a:spcPct val="115000"/>
              </a:lnSpc>
              <a:spcBef>
                <a:spcPts val="400"/>
              </a:spcBef>
              <a:spcAft>
                <a:spcPts val="0"/>
              </a:spcAft>
              <a:buNone/>
            </a:pPr>
            <a:r>
              <a:rPr lang="en" sz="1594" b="1"/>
              <a:t>Reviewer Evaluation Mechanism</a:t>
            </a:r>
            <a:endParaRPr sz="1594"/>
          </a:p>
          <a:p>
            <a:pPr marL="0" lvl="0" indent="0" algn="l" rtl="0">
              <a:lnSpc>
                <a:spcPct val="115000"/>
              </a:lnSpc>
              <a:spcBef>
                <a:spcPts val="0"/>
              </a:spcBef>
              <a:spcAft>
                <a:spcPts val="0"/>
              </a:spcAft>
              <a:buNone/>
            </a:pPr>
            <a:endParaRPr sz="1594"/>
          </a:p>
          <a:p>
            <a:pPr marL="0" lvl="0" indent="0" algn="l" rtl="0">
              <a:lnSpc>
                <a:spcPct val="115000"/>
              </a:lnSpc>
              <a:spcBef>
                <a:spcPts val="0"/>
              </a:spcBef>
              <a:spcAft>
                <a:spcPts val="0"/>
              </a:spcAft>
              <a:buNone/>
            </a:pPr>
            <a:r>
              <a:rPr lang="en" sz="1594"/>
              <a:t>Dashboard should show:</a:t>
            </a:r>
            <a:endParaRPr sz="1594"/>
          </a:p>
          <a:p>
            <a:pPr marL="457200" lvl="0" indent="-319722" algn="l" rtl="0">
              <a:lnSpc>
                <a:spcPct val="115000"/>
              </a:lnSpc>
              <a:spcBef>
                <a:spcPts val="0"/>
              </a:spcBef>
              <a:spcAft>
                <a:spcPts val="0"/>
              </a:spcAft>
              <a:buSzPct val="100000"/>
              <a:buChar char="●"/>
            </a:pPr>
            <a:r>
              <a:rPr lang="en" sz="1594"/>
              <a:t>Ranked list of reviewers based on performance metrics (review quality, quantity, and timeliness).</a:t>
            </a:r>
            <a:endParaRPr sz="1594"/>
          </a:p>
          <a:p>
            <a:pPr marL="457200" lvl="0" indent="-319722" algn="l" rtl="0">
              <a:lnSpc>
                <a:spcPct val="115000"/>
              </a:lnSpc>
              <a:spcBef>
                <a:spcPts val="0"/>
              </a:spcBef>
              <a:spcAft>
                <a:spcPts val="0"/>
              </a:spcAft>
              <a:buSzPct val="100000"/>
              <a:buChar char="●"/>
            </a:pPr>
            <a:r>
              <a:rPr lang="en" sz="1594"/>
              <a:t>Assigned and completed reviews per reviewer, tracked monthly, yearly, and overall.</a:t>
            </a:r>
            <a:endParaRPr sz="1594"/>
          </a:p>
          <a:p>
            <a:pPr marL="457200" lvl="0" indent="-319722" algn="l" rtl="0">
              <a:lnSpc>
                <a:spcPct val="115000"/>
              </a:lnSpc>
              <a:spcBef>
                <a:spcPts val="0"/>
              </a:spcBef>
              <a:spcAft>
                <a:spcPts val="0"/>
              </a:spcAft>
              <a:buSzPct val="100000"/>
              <a:buChar char="●"/>
            </a:pPr>
            <a:r>
              <a:rPr lang="en" sz="1594"/>
              <a:t>Review assignment acceptance and rejection rates per reviewer, tracked monthly, yearly, and overall.</a:t>
            </a:r>
            <a:endParaRPr sz="1594"/>
          </a:p>
          <a:p>
            <a:pPr marL="457200" lvl="0" indent="-319722" algn="l" rtl="0">
              <a:lnSpc>
                <a:spcPct val="115000"/>
              </a:lnSpc>
              <a:spcBef>
                <a:spcPts val="0"/>
              </a:spcBef>
              <a:spcAft>
                <a:spcPts val="0"/>
              </a:spcAft>
              <a:buSzPct val="100000"/>
              <a:buChar char="●"/>
            </a:pPr>
            <a:r>
              <a:rPr lang="en" sz="1594"/>
              <a:t>Percentage of on-time versus delayed reviews per reviewer, tracked monthly, yearly, and overall.</a:t>
            </a:r>
            <a:endParaRPr sz="1594"/>
          </a:p>
          <a:p>
            <a:pPr marL="457200" lvl="0" indent="-319722" algn="l" rtl="0">
              <a:lnSpc>
                <a:spcPct val="115000"/>
              </a:lnSpc>
              <a:spcBef>
                <a:spcPts val="0"/>
              </a:spcBef>
              <a:spcAft>
                <a:spcPts val="0"/>
              </a:spcAft>
              <a:buSzPct val="100000"/>
              <a:buChar char="●"/>
            </a:pPr>
            <a:r>
              <a:rPr lang="en" sz="1594"/>
              <a:t>Average reviewer score.</a:t>
            </a:r>
            <a:br>
              <a:rPr lang="en" sz="1594"/>
            </a:br>
            <a:endParaRPr sz="1594"/>
          </a:p>
          <a:p>
            <a:pPr marL="0" lvl="0" indent="0" algn="l" rtl="0">
              <a:lnSpc>
                <a:spcPct val="115000"/>
              </a:lnSpc>
              <a:spcBef>
                <a:spcPts val="0"/>
              </a:spcBef>
              <a:spcAft>
                <a:spcPts val="0"/>
              </a:spcAft>
              <a:buNone/>
            </a:pPr>
            <a:r>
              <a:rPr lang="en" sz="1594"/>
              <a:t>Purpose</a:t>
            </a:r>
            <a:endParaRPr sz="1594"/>
          </a:p>
          <a:p>
            <a:pPr marL="0" lvl="0" indent="0" algn="l" rtl="0">
              <a:lnSpc>
                <a:spcPct val="115000"/>
              </a:lnSpc>
              <a:spcBef>
                <a:spcPts val="0"/>
              </a:spcBef>
              <a:spcAft>
                <a:spcPts val="0"/>
              </a:spcAft>
              <a:buNone/>
            </a:pPr>
            <a:endParaRPr sz="1594"/>
          </a:p>
          <a:p>
            <a:pPr marL="457200" lvl="0" indent="-319722" algn="l" rtl="0">
              <a:lnSpc>
                <a:spcPct val="115000"/>
              </a:lnSpc>
              <a:spcBef>
                <a:spcPts val="0"/>
              </a:spcBef>
              <a:spcAft>
                <a:spcPts val="0"/>
              </a:spcAft>
              <a:buSzPct val="100000"/>
              <a:buChar char="●"/>
            </a:pPr>
            <a:r>
              <a:rPr lang="en" sz="1594"/>
              <a:t>Enable data-driven decisions.</a:t>
            </a:r>
            <a:endParaRPr sz="1594"/>
          </a:p>
          <a:p>
            <a:pPr marL="457200" lvl="0" indent="-319722" algn="l" rtl="0">
              <a:lnSpc>
                <a:spcPct val="115000"/>
              </a:lnSpc>
              <a:spcBef>
                <a:spcPts val="0"/>
              </a:spcBef>
              <a:spcAft>
                <a:spcPts val="0"/>
              </a:spcAft>
              <a:buSzPct val="100000"/>
              <a:buChar char="●"/>
            </a:pPr>
            <a:r>
              <a:rPr lang="en" sz="1594"/>
              <a:t>Monitor health of the review process.</a:t>
            </a:r>
            <a:br>
              <a:rPr lang="en" sz="1594"/>
            </a:br>
            <a:br>
              <a:rPr lang="en" sz="1594"/>
            </a:br>
            <a:endParaRPr sz="1594" b="1"/>
          </a:p>
          <a:p>
            <a:pPr marL="0" lvl="0" indent="0" algn="l" rtl="0">
              <a:lnSpc>
                <a:spcPct val="150000"/>
              </a:lnSpc>
              <a:spcBef>
                <a:spcPts val="1200"/>
              </a:spcBef>
              <a:spcAft>
                <a:spcPts val="0"/>
              </a:spcAft>
              <a:buNone/>
            </a:pPr>
            <a:endParaRPr sz="1550" b="1"/>
          </a:p>
          <a:p>
            <a:pPr marL="457200" lvl="0" indent="0" algn="l" rtl="0">
              <a:lnSpc>
                <a:spcPct val="115000"/>
              </a:lnSpc>
              <a:spcBef>
                <a:spcPts val="1200"/>
              </a:spcBef>
              <a:spcAft>
                <a:spcPts val="0"/>
              </a:spcAft>
              <a:buNone/>
            </a:pPr>
            <a:endParaRPr sz="1550"/>
          </a:p>
          <a:p>
            <a:pPr marL="0" lvl="0" indent="0" algn="l" rtl="0">
              <a:lnSpc>
                <a:spcPct val="100000"/>
              </a:lnSpc>
              <a:spcBef>
                <a:spcPts val="1200"/>
              </a:spcBef>
              <a:spcAft>
                <a:spcPts val="0"/>
              </a:spcAft>
              <a:buSzPct val="111111"/>
              <a:buNone/>
            </a:pPr>
            <a:endParaRPr/>
          </a:p>
        </p:txBody>
      </p:sp>
      <p:pic>
        <p:nvPicPr>
          <p:cNvPr id="229" name="Google Shape;229;g3c2aa66756c_0_99"/>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230" name="Google Shape;230;g3c2aa66756c_0_9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20</a:t>
            </a:fld>
            <a:endParaRPr/>
          </a:p>
        </p:txBody>
      </p:sp>
      <p:sp>
        <p:nvSpPr>
          <p:cNvPr id="231" name="Google Shape;231;g3c2aa66756c_0_99"/>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c2aa66756c_0_105"/>
          <p:cNvSpPr txBox="1">
            <a:spLocks noGrp="1"/>
          </p:cNvSpPr>
          <p:nvPr>
            <p:ph type="title"/>
          </p:nvPr>
        </p:nvSpPr>
        <p:spPr>
          <a:xfrm>
            <a:off x="311700" y="445025"/>
            <a:ext cx="8520600" cy="45021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15000"/>
              </a:lnSpc>
              <a:spcBef>
                <a:spcPts val="1400"/>
              </a:spcBef>
              <a:spcAft>
                <a:spcPts val="0"/>
              </a:spcAft>
              <a:buSzPct val="52520"/>
              <a:buNone/>
            </a:pPr>
            <a:r>
              <a:rPr lang="en" sz="2094" b="1">
                <a:solidFill>
                  <a:srgbClr val="00529F"/>
                </a:solidFill>
              </a:rPr>
              <a:t>“To-Be” Automated Bilsen Review Process</a:t>
            </a:r>
            <a:br>
              <a:rPr lang="en" sz="2094" b="1">
                <a:solidFill>
                  <a:srgbClr val="00529F"/>
                </a:solidFill>
              </a:rPr>
            </a:br>
            <a:endParaRPr sz="1594" b="1"/>
          </a:p>
          <a:p>
            <a:pPr marL="0" lvl="0" indent="0" algn="l" rtl="0">
              <a:lnSpc>
                <a:spcPct val="115000"/>
              </a:lnSpc>
              <a:spcBef>
                <a:spcPts val="400"/>
              </a:spcBef>
              <a:spcAft>
                <a:spcPts val="0"/>
              </a:spcAft>
              <a:buNone/>
            </a:pPr>
            <a:r>
              <a:rPr lang="en" sz="1594" b="1"/>
              <a:t>Venue Recommendation &amp; Submission Support (Optional)</a:t>
            </a:r>
            <a:endParaRPr sz="1594"/>
          </a:p>
          <a:p>
            <a:pPr marL="0" lvl="0" indent="0" algn="l" rtl="0">
              <a:lnSpc>
                <a:spcPct val="115000"/>
              </a:lnSpc>
              <a:spcBef>
                <a:spcPts val="0"/>
              </a:spcBef>
              <a:spcAft>
                <a:spcPts val="0"/>
              </a:spcAft>
              <a:buNone/>
            </a:pPr>
            <a:endParaRPr sz="1594"/>
          </a:p>
          <a:p>
            <a:pPr marL="0" lvl="0" indent="0" algn="l" rtl="0">
              <a:lnSpc>
                <a:spcPct val="115000"/>
              </a:lnSpc>
              <a:spcBef>
                <a:spcPts val="0"/>
              </a:spcBef>
              <a:spcAft>
                <a:spcPts val="0"/>
              </a:spcAft>
              <a:buNone/>
            </a:pPr>
            <a:r>
              <a:rPr lang="en" sz="1594"/>
              <a:t>Recommend suitable venues based on:</a:t>
            </a:r>
            <a:endParaRPr sz="1594"/>
          </a:p>
          <a:p>
            <a:pPr marL="457200" lvl="0" indent="0" algn="l" rtl="0">
              <a:lnSpc>
                <a:spcPct val="115000"/>
              </a:lnSpc>
              <a:spcBef>
                <a:spcPts val="0"/>
              </a:spcBef>
              <a:spcAft>
                <a:spcPts val="0"/>
              </a:spcAft>
              <a:buNone/>
            </a:pPr>
            <a:endParaRPr sz="1594"/>
          </a:p>
          <a:p>
            <a:pPr marL="457200" lvl="0" indent="-319722" algn="l" rtl="0">
              <a:lnSpc>
                <a:spcPct val="115000"/>
              </a:lnSpc>
              <a:spcBef>
                <a:spcPts val="0"/>
              </a:spcBef>
              <a:spcAft>
                <a:spcPts val="0"/>
              </a:spcAft>
              <a:buSzPct val="100000"/>
              <a:buChar char="●"/>
            </a:pPr>
            <a:r>
              <a:rPr lang="en" sz="1594"/>
              <a:t>Paper type</a:t>
            </a:r>
            <a:endParaRPr sz="1594"/>
          </a:p>
          <a:p>
            <a:pPr marL="457200" lvl="0" indent="0" algn="l" rtl="0">
              <a:lnSpc>
                <a:spcPct val="115000"/>
              </a:lnSpc>
              <a:spcBef>
                <a:spcPts val="0"/>
              </a:spcBef>
              <a:spcAft>
                <a:spcPts val="0"/>
              </a:spcAft>
              <a:buNone/>
            </a:pPr>
            <a:endParaRPr sz="1594"/>
          </a:p>
          <a:p>
            <a:pPr marL="457200" lvl="0" indent="-319722" algn="l" rtl="0">
              <a:lnSpc>
                <a:spcPct val="115000"/>
              </a:lnSpc>
              <a:spcBef>
                <a:spcPts val="0"/>
              </a:spcBef>
              <a:spcAft>
                <a:spcPts val="0"/>
              </a:spcAft>
              <a:buSzPct val="100000"/>
              <a:buChar char="●"/>
            </a:pPr>
            <a:r>
              <a:rPr lang="en" sz="1594"/>
              <a:t>Content</a:t>
            </a:r>
            <a:endParaRPr sz="1594"/>
          </a:p>
          <a:p>
            <a:pPr marL="457200" lvl="0" indent="0" algn="l" rtl="0">
              <a:lnSpc>
                <a:spcPct val="115000"/>
              </a:lnSpc>
              <a:spcBef>
                <a:spcPts val="0"/>
              </a:spcBef>
              <a:spcAft>
                <a:spcPts val="0"/>
              </a:spcAft>
              <a:buNone/>
            </a:pPr>
            <a:endParaRPr sz="1594"/>
          </a:p>
          <a:p>
            <a:pPr marL="457200" lvl="0" indent="-319722" algn="l" rtl="0">
              <a:lnSpc>
                <a:spcPct val="115000"/>
              </a:lnSpc>
              <a:spcBef>
                <a:spcPts val="0"/>
              </a:spcBef>
              <a:spcAft>
                <a:spcPts val="0"/>
              </a:spcAft>
              <a:buSzPct val="100000"/>
              <a:buChar char="●"/>
            </a:pPr>
            <a:r>
              <a:rPr lang="en" sz="1594"/>
              <a:t>Allow authors to select a target venue</a:t>
            </a:r>
            <a:endParaRPr sz="1594"/>
          </a:p>
          <a:p>
            <a:pPr marL="457200" lvl="0" indent="0" algn="l" rtl="0">
              <a:lnSpc>
                <a:spcPct val="115000"/>
              </a:lnSpc>
              <a:spcBef>
                <a:spcPts val="0"/>
              </a:spcBef>
              <a:spcAft>
                <a:spcPts val="0"/>
              </a:spcAft>
              <a:buNone/>
            </a:pPr>
            <a:endParaRPr sz="1594"/>
          </a:p>
          <a:p>
            <a:pPr marL="0" lvl="0" indent="0" algn="l" rtl="0">
              <a:lnSpc>
                <a:spcPct val="115000"/>
              </a:lnSpc>
              <a:spcBef>
                <a:spcPts val="0"/>
              </a:spcBef>
              <a:spcAft>
                <a:spcPts val="0"/>
              </a:spcAft>
              <a:buNone/>
            </a:pPr>
            <a:r>
              <a:rPr lang="en" sz="1594">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8"/>
                  </a:ext>
                </a:extLst>
              </a:rPr>
              <a:t>Enable direct submission once:</a:t>
            </a:r>
            <a:endParaRPr sz="1594">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9"/>
                </a:ext>
              </a:extLst>
            </a:endParaRPr>
          </a:p>
          <a:p>
            <a:pPr marL="0" lvl="0" indent="0" algn="l" rtl="0">
              <a:lnSpc>
                <a:spcPct val="115000"/>
              </a:lnSpc>
              <a:spcBef>
                <a:spcPts val="0"/>
              </a:spcBef>
              <a:spcAft>
                <a:spcPts val="0"/>
              </a:spcAft>
              <a:buNone/>
            </a:pPr>
            <a:endParaRPr sz="1594">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0"/>
                </a:ext>
              </a:extLst>
            </a:endParaRPr>
          </a:p>
          <a:p>
            <a:pPr marL="457200" lvl="0" indent="-319722" algn="l" rtl="0">
              <a:lnSpc>
                <a:spcPct val="115000"/>
              </a:lnSpc>
              <a:spcBef>
                <a:spcPts val="0"/>
              </a:spcBef>
              <a:spcAft>
                <a:spcPts val="0"/>
              </a:spcAft>
              <a:buSzPct val="100000"/>
              <a:buChar char="●"/>
            </a:pPr>
            <a:r>
              <a:rPr lang="en" sz="1594">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1"/>
                  </a:ext>
                </a:extLst>
              </a:rPr>
              <a:t>All checks are satisfied</a:t>
            </a:r>
            <a:br>
              <a:rPr lang="en" sz="1594"/>
            </a:br>
            <a:br>
              <a:rPr lang="en" sz="1594"/>
            </a:br>
            <a:endParaRPr sz="1594" b="1"/>
          </a:p>
          <a:p>
            <a:pPr marL="0" lvl="0" indent="0" algn="l" rtl="0">
              <a:lnSpc>
                <a:spcPct val="150000"/>
              </a:lnSpc>
              <a:spcBef>
                <a:spcPts val="1200"/>
              </a:spcBef>
              <a:spcAft>
                <a:spcPts val="0"/>
              </a:spcAft>
              <a:buNone/>
            </a:pPr>
            <a:endParaRPr sz="1550" b="1"/>
          </a:p>
          <a:p>
            <a:pPr marL="457200" lvl="0" indent="0" algn="l" rtl="0">
              <a:lnSpc>
                <a:spcPct val="115000"/>
              </a:lnSpc>
              <a:spcBef>
                <a:spcPts val="1200"/>
              </a:spcBef>
              <a:spcAft>
                <a:spcPts val="0"/>
              </a:spcAft>
              <a:buNone/>
            </a:pPr>
            <a:endParaRPr sz="1550"/>
          </a:p>
          <a:p>
            <a:pPr marL="0" lvl="0" indent="0" algn="l" rtl="0">
              <a:lnSpc>
                <a:spcPct val="100000"/>
              </a:lnSpc>
              <a:spcBef>
                <a:spcPts val="1200"/>
              </a:spcBef>
              <a:spcAft>
                <a:spcPts val="0"/>
              </a:spcAft>
              <a:buSzPct val="111111"/>
              <a:buNone/>
            </a:pPr>
            <a:endParaRPr/>
          </a:p>
        </p:txBody>
      </p:sp>
      <p:pic>
        <p:nvPicPr>
          <p:cNvPr id="237" name="Google Shape;237;g3c2aa66756c_0_105"/>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238" name="Google Shape;238;g3c2aa66756c_0_10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21</a:t>
            </a:fld>
            <a:endParaRPr/>
          </a:p>
        </p:txBody>
      </p:sp>
      <p:sp>
        <p:nvSpPr>
          <p:cNvPr id="239" name="Google Shape;239;g3c2aa66756c_0_105"/>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c325985b9b_1_29"/>
          <p:cNvSpPr txBox="1">
            <a:spLocks noGrp="1"/>
          </p:cNvSpPr>
          <p:nvPr>
            <p:ph type="title"/>
          </p:nvPr>
        </p:nvSpPr>
        <p:spPr>
          <a:xfrm>
            <a:off x="1096500" y="1628250"/>
            <a:ext cx="6981900" cy="9435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50000"/>
              </a:lnSpc>
              <a:spcBef>
                <a:spcPts val="1200"/>
              </a:spcBef>
              <a:spcAft>
                <a:spcPts val="0"/>
              </a:spcAft>
              <a:buClr>
                <a:schemeClr val="dk1"/>
              </a:buClr>
              <a:buSzPts val="990"/>
              <a:buFont typeface="Arial"/>
              <a:buNone/>
            </a:pPr>
            <a:r>
              <a:rPr lang="en" sz="4772" b="1">
                <a:solidFill>
                  <a:srgbClr val="00529F"/>
                </a:solidFill>
              </a:rPr>
              <a:t>Thanks for your Attention</a:t>
            </a:r>
            <a:endParaRPr sz="4772" b="1">
              <a:solidFill>
                <a:srgbClr val="00529F"/>
              </a:solidFill>
            </a:endParaRPr>
          </a:p>
          <a:p>
            <a:pPr marL="457200" lvl="0" indent="0" algn="l" rtl="0">
              <a:lnSpc>
                <a:spcPct val="115000"/>
              </a:lnSpc>
              <a:spcBef>
                <a:spcPts val="1200"/>
              </a:spcBef>
              <a:spcAft>
                <a:spcPts val="0"/>
              </a:spcAft>
              <a:buNone/>
            </a:pPr>
            <a:endParaRPr sz="1550"/>
          </a:p>
          <a:p>
            <a:pPr marL="0" lvl="0" indent="0" algn="l" rtl="0">
              <a:lnSpc>
                <a:spcPct val="100000"/>
              </a:lnSpc>
              <a:spcBef>
                <a:spcPts val="1200"/>
              </a:spcBef>
              <a:spcAft>
                <a:spcPts val="0"/>
              </a:spcAft>
              <a:buSzPct val="111111"/>
              <a:buNone/>
            </a:pPr>
            <a:endParaRPr/>
          </a:p>
        </p:txBody>
      </p:sp>
      <p:pic>
        <p:nvPicPr>
          <p:cNvPr id="245" name="Google Shape;245;g3c325985b9b_1_29"/>
          <p:cNvPicPr preferRelativeResize="0"/>
          <p:nvPr/>
        </p:nvPicPr>
        <p:blipFill>
          <a:blip r:embed="rId3">
            <a:alphaModFix/>
          </a:blip>
          <a:stretch>
            <a:fillRect/>
          </a:stretch>
        </p:blipFill>
        <p:spPr>
          <a:xfrm>
            <a:off x="8283950" y="189425"/>
            <a:ext cx="752475" cy="752475"/>
          </a:xfrm>
          <a:prstGeom prst="rect">
            <a:avLst/>
          </a:prstGeom>
          <a:noFill/>
          <a:ln>
            <a:noFill/>
          </a:ln>
        </p:spPr>
      </p:pic>
      <p:sp>
        <p:nvSpPr>
          <p:cNvPr id="246" name="Google Shape;246;g3c325985b9b_1_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Clr>
                <a:srgbClr val="000000"/>
              </a:buClr>
              <a:buSzPts val="1000"/>
              <a:buFont typeface="Arial"/>
              <a:buNone/>
            </a:pPr>
            <a:fld id="{00000000-1234-1234-1234-123412341234}" type="slidenum">
              <a:rPr lang="en"/>
              <a:t>22</a:t>
            </a:fld>
            <a:endParaRPr/>
          </a:p>
        </p:txBody>
      </p:sp>
      <p:sp>
        <p:nvSpPr>
          <p:cNvPr id="247" name="Google Shape;247;g3c325985b9b_1_29"/>
          <p:cNvSpPr txBox="1">
            <a:spLocks noGrp="1"/>
          </p:cNvSpPr>
          <p:nvPr>
            <p:ph type="body" idx="4294967295"/>
          </p:nvPr>
        </p:nvSpPr>
        <p:spPr>
          <a:xfrm>
            <a:off x="0" y="4947075"/>
            <a:ext cx="9174900" cy="196500"/>
          </a:xfrm>
          <a:prstGeom prst="rect">
            <a:avLst/>
          </a:prstGeom>
          <a:solidFill>
            <a:srgbClr val="00529F"/>
          </a:solid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900"/>
              <a:buNone/>
            </a:pPr>
            <a:endParaRPr/>
          </a:p>
        </p:txBody>
      </p:sp>
      <p:sp>
        <p:nvSpPr>
          <p:cNvPr id="248" name="Google Shape;248;g3c325985b9b_1_29"/>
          <p:cNvSpPr txBox="1"/>
          <p:nvPr/>
        </p:nvSpPr>
        <p:spPr>
          <a:xfrm>
            <a:off x="1201550" y="2571750"/>
            <a:ext cx="6919800" cy="481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927" b="1">
                <a:solidFill>
                  <a:srgbClr val="00529F"/>
                </a:solidFill>
              </a:rPr>
              <a:t>Questions?</a:t>
            </a:r>
            <a:r>
              <a:rPr lang="en" sz="1594">
                <a:solidFill>
                  <a:schemeClr val="dk1"/>
                </a:solidFill>
              </a:rPr>
              <a:t> Feel free to reach out via Slack (“Fereshteh Vedadi”).</a:t>
            </a:r>
            <a:endParaRPr sz="1800">
              <a:solidFill>
                <a:schemeClr val="dk2"/>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1158</Words>
  <Application>Microsoft Office PowerPoint</Application>
  <PresentationFormat>On-screen Show (16:9)</PresentationFormat>
  <Paragraphs>202</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Lato</vt:lpstr>
      <vt:lpstr>Lato Light</vt:lpstr>
      <vt:lpstr>Assistant</vt:lpstr>
      <vt:lpstr>Arial</vt:lpstr>
      <vt:lpstr>Simple Light</vt:lpstr>
      <vt:lpstr>CS-319 Project Presentation </vt:lpstr>
      <vt:lpstr>BILSEN Group  </vt:lpstr>
      <vt:lpstr>Automating the BILSEN Internal Review Process  Context BILSEN conducts internal paper reviews before conference/journal submission. Reviews are essential for maintaining research quality and consistency.  Goal Transform the current manual, and coordination-heavy review process into a structured, partially automated, and data-driven system. Improve efficiency, traceability, and scalability. </vt:lpstr>
      <vt:lpstr>Current Process (As-Is): Step-by-Step Flow Paper Submission  Authors notify the lab coordinator upon completing the final version of their manuscript.  Reviewer Assignment  Coordinator manually assigns reviewers, sets the review deadline, shares the project Overleaf link with the assigned reviewers and notifies them by email. The lab coordinator sometimes needs to remind reviewers of their tasks, as missed deadlines or late extension requests can prevent timely reassignment and lead to missed reviews. Review Execution Reviewers: Join the Overleaf and read the manuscript Leave free-form comments on Overleaf  </vt:lpstr>
      <vt:lpstr>PowerPoint Presentation</vt:lpstr>
      <vt:lpstr>PowerPoint Presentation</vt:lpstr>
      <vt:lpstr>PowerPoint Presentation</vt:lpstr>
      <vt:lpstr>Current Process (As-Is): Step-by-Step Flow  4. Review Completion Reviewers email authors and coordinator when done.  5.   Feedback on Obtained Reviews After the review deadline, the coordinator manually follows up with authors to assess:  Whether all assigned reviewers completed their reviews on time.  The perceived quality and usefulness of the received reviews.   </vt:lpstr>
      <vt:lpstr>PowerPoint Presentation</vt:lpstr>
      <vt:lpstr>Current Process (As-Is): Step-by-Step Flow 6. Iteration Authors read comments, provide feedback and may ask clarifications on Overleaf comments. Reviewers periodically revisit the Overleaf project to respond possible questions and engage in further discussion when needed. In cases of rejection or major revision, the process is repeated after manuscript revision. Maintaining a record of previous reviewers is important, as new reviewers are usually assigned in later rounds. 7. Manual Author Checks Authors: Use AI-driven review tools for further improvement Check venue requirements and formatting Control a checklist appropriate to the paper type  </vt:lpstr>
      <vt:lpstr>Sample of a Quality Checklist    </vt:lpstr>
      <vt:lpstr>Key Limitations of the Current Process Manual &amp; Error-Prone Coordination Reviewer workload is not balanced. Deadlines are tracked manually. Missed or late reviews may go unnoticed. Does not scale as submissions increase.  No Traceability of Reviewer Performance Review quality feedback is: informal, subjective, and not stored. No historical data on reviewer performance.   </vt:lpstr>
      <vt:lpstr>Key Limitations of the Current Process Heavy Cognitive Load on Authors Authors must manually handle: Reviewers’ feedbacks AI-based reviews Venue-specific formatting rules (page limits, abstract length, anonymity check) Quality checklist These tasks are disconnected, undocumented, and error-prone. No Centralized Visibility or Analytics No insight into: reviewer timeliness, workload distribution, and papers previously reviewed by each reviewer.   </vt:lpstr>
      <vt:lpstr>Why Change Is Needed?  As BILSEN grows:  Number of papers increases Number of reviewers increases Number of review rounds increases   Current process does not scale. We need a system that:  Reduces coordination overhead Improves consistency and traceability Enables analytics and long-term improvement Preserves academic rigor and human control   </vt:lpstr>
      <vt:lpstr>“To-Be” Automated Bilsen Review Process  Automated Pre-Check &amp; Compliance Validation  Based on the selected venue and track, the system should automatically verify compliance with:  Page limit Abstract word count Required sections Reference format Anonymity requirements by checking for organization and institution anonymization, ensuring PDF metadata (e.g., author and company fields) is cleared, and validating that tool or dataset links do not reveal author identities. Detect paper type (research, survey, etc.) and activate the appropriate checklist dynamically.   </vt:lpstr>
      <vt:lpstr>“To-Be” Automated Bilsen Review Process  Reviewer Assignment &amp; Workload Balancing Coordinator selects reviewers &amp; deadline  System: Automatically notifies reviewers by email. Tracks the assigned reviews per reviewer. Enable reviewers to accept or decline review assignments (by providing a valid reason) or request deadline extensions.  Enables: Balanced workload distribution. Early detection of overload or inactivity. Reviewer selection in future review rounds of a paper.    </vt:lpstr>
      <vt:lpstr>“To-Be” Automated Bilsen Review Process  Automated Coordination &amp; Deadline Management  Send reminder emails to assigned reviewers as the deadline approaches.  Alerts to coordinator when deadlines are missed.  Reduces:  Manual follow-ups.  Missed or overdue submissions.     </vt:lpstr>
      <vt:lpstr>“To-Be” Automated Bilsen Review Process  AI-Assisted Review Support (for Authors)  The system supports automated review generation by:  Highlighting potential issues directly in Overleaf and providing improvement suggestions as free-form comments (ideal one). Generating formal review reports based on predefined template. Producing annotated PDF documents with highlighted issues and suggested improvements. Performing structured, checklist-based compliance checks.  Ensure: No hallucinated references No unsupported claims     </vt:lpstr>
      <vt:lpstr>“To-Be” Automated Bilsen Review Process  Reviewer Evaluation Mechanism  After review completion, authors rate reviewers on:  Quality of comments Quantity of feedbacks Timeliness  Ratings contribute to:  Reviewer performance statistics Long-term quality monitoring     </vt:lpstr>
      <vt:lpstr>“To-Be” Automated Bilsen Review Process  Reviewer Evaluation Mechanism  Dashboard should show: Ranked list of reviewers based on performance metrics (review quality, quantity, and timeliness). Assigned and completed reviews per reviewer, tracked monthly, yearly, and overall. Review assignment acceptance and rejection rates per reviewer, tracked monthly, yearly, and overall. Percentage of on-time versus delayed reviews per reviewer, tracked monthly, yearly, and overall. Average reviewer score.  Purpose  Enable data-driven decisions. Monitor health of the review process.     </vt:lpstr>
      <vt:lpstr>“To-Be” Automated Bilsen Review Process  Venue Recommendation &amp; Submission Support (Optional)  Recommend suitable venues based on:  Paper type  Content  Allow authors to select a target venue  Enable direct submission once:  All checks are satisfied     </vt:lpstr>
      <vt:lpstr>Thanks for your Attention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fereshteh.vedadi@gmail.com</cp:lastModifiedBy>
  <cp:revision>1</cp:revision>
  <dcterms:modified xsi:type="dcterms:W3CDTF">2026-02-05T09:49:57Z</dcterms:modified>
</cp:coreProperties>
</file>